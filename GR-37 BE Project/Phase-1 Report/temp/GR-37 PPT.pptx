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256" r:id="rId2"/>
    <p:sldId id="261" r:id="rId3"/>
    <p:sldId id="258" r:id="rId4"/>
    <p:sldId id="259" r:id="rId5"/>
    <p:sldId id="257" r:id="rId6"/>
    <p:sldId id="260" r:id="rId7"/>
    <p:sldId id="283" r:id="rId8"/>
    <p:sldId id="262" r:id="rId9"/>
    <p:sldId id="285" r:id="rId10"/>
    <p:sldId id="286" r:id="rId11"/>
    <p:sldId id="287" r:id="rId12"/>
    <p:sldId id="273" r:id="rId13"/>
    <p:sldId id="264" r:id="rId14"/>
    <p:sldId id="265" r:id="rId15"/>
    <p:sldId id="280" r:id="rId16"/>
    <p:sldId id="281" r:id="rId17"/>
    <p:sldId id="282" r:id="rId18"/>
    <p:sldId id="267" r:id="rId19"/>
    <p:sldId id="288" r:id="rId20"/>
    <p:sldId id="289" r:id="rId21"/>
    <p:sldId id="269" r:id="rId22"/>
    <p:sldId id="270" r:id="rId23"/>
    <p:sldId id="271" r:id="rId24"/>
    <p:sldId id="268" r:id="rId25"/>
    <p:sldId id="278" r:id="rId26"/>
    <p:sldId id="279" r:id="rId27"/>
    <p:sldId id="27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D9CC"/>
    <a:srgbClr val="F7CE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FE82F0-4569-4028-B404-AB2F51C0FC9A}" type="datetimeFigureOut">
              <a:rPr lang="en-IN" smtClean="0"/>
              <a:t>13-11-2025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7D11D-31AD-478F-9AF7-A9F247A5E6F7}" type="slidenum">
              <a:rPr lang="en-IN" smtClean="0"/>
              <a:t>‹#›</a:t>
            </a:fld>
            <a:endParaRPr lang="en-IN"/>
          </a:p>
        </p:txBody>
      </p:sp>
    </p:spTree>
    <p:extLst>
      <p:ext uri="{BB962C8B-B14F-4D97-AF65-F5344CB8AC3E}">
        <p14:creationId xmlns:p14="http://schemas.microsoft.com/office/powerpoint/2010/main" val="2002299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1487D11D-31AD-478F-9AF7-A9F247A5E6F7}" type="slidenum">
              <a:rPr lang="en-IN" smtClean="0"/>
              <a:t>1</a:t>
            </a:fld>
            <a:endParaRPr lang="en-IN"/>
          </a:p>
        </p:txBody>
      </p:sp>
    </p:spTree>
    <p:extLst>
      <p:ext uri="{BB962C8B-B14F-4D97-AF65-F5344CB8AC3E}">
        <p14:creationId xmlns:p14="http://schemas.microsoft.com/office/powerpoint/2010/main" val="1795671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1487D11D-31AD-478F-9AF7-A9F247A5E6F7}" type="slidenum">
              <a:rPr lang="en-IN" smtClean="0"/>
              <a:t>7</a:t>
            </a:fld>
            <a:endParaRPr lang="en-IN"/>
          </a:p>
        </p:txBody>
      </p:sp>
    </p:spTree>
    <p:extLst>
      <p:ext uri="{BB962C8B-B14F-4D97-AF65-F5344CB8AC3E}">
        <p14:creationId xmlns:p14="http://schemas.microsoft.com/office/powerpoint/2010/main" val="31603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D221F1E-EB91-4745-9951-7D1F6ABADE85}" type="datetime1">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1FBF55-3445-4B1D-B547-CFEC6D78AAD8}" type="datetime1">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5061D99-07A8-4ACE-A2BE-049CAE947920}" type="datetime1">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D781B0A-4605-4A12-AFCB-DEA982E20756}" type="datetime1">
              <a:rPr lang="en-US" smtClean="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229E9D1-08E5-4B3A-88BB-8CB80D878819}" type="datetime1">
              <a:rPr lang="en-US" smtClean="0"/>
              <a:t>11/13/2025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98DC126-660E-4A97-A74C-31B4D04EBFBE}" type="datetime1">
              <a:rPr lang="en-US" smtClean="0"/>
              <a:t>11/13/2025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E687154-35E0-4D22-B050-7B1C739F2762}" type="datetime1">
              <a:rPr lang="en-US" smtClean="0"/>
              <a:t>11/13/2025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3B51560-DA84-41CC-8915-1C6CDBC481D3}" type="datetime1">
              <a:rPr lang="en-US" smtClean="0"/>
              <a:t>11/13/2025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8505438-3AE7-4F4D-90BB-9ADEC9E53550}" type="datetime1">
              <a:rPr lang="en-US" smtClean="0"/>
              <a:t>11/13/2025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C7FE09C-D193-40BF-88FF-8AD4CCF1F4A2}" type="datetime1">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28047F4-5501-426C-8B40-2286A2D1719C}" type="datetime1">
              <a:rPr lang="en-US" smtClean="0"/>
              <a:t>11/13/2025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11A0922-943D-43FD-B141-FC04E791700B}" type="datetime1">
              <a:rPr lang="en-US" smtClean="0"/>
              <a:t>11/13/2025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9698990" y="79754"/>
            <a:ext cx="2493010" cy="1282065"/>
          </a:xfrm>
          <a:prstGeom prst="rect">
            <a:avLst/>
          </a:prstGeom>
        </p:spPr>
      </p:pic>
      <p:sp>
        <p:nvSpPr>
          <p:cNvPr id="3" name="Rectangle 2"/>
          <p:cNvSpPr/>
          <p:nvPr/>
        </p:nvSpPr>
        <p:spPr>
          <a:xfrm>
            <a:off x="-165637" y="190200"/>
            <a:ext cx="11566357" cy="954107"/>
          </a:xfrm>
          <a:prstGeom prst="rect">
            <a:avLst/>
          </a:prstGeom>
        </p:spPr>
        <p:txBody>
          <a:bodyPr wrap="square">
            <a:spAutoFit/>
          </a:bodyPr>
          <a:lstStyle/>
          <a:p>
            <a:pPr marL="717584" algn="ctr">
              <a:spcBef>
                <a:spcPts val="1020"/>
              </a:spcBef>
              <a:tabLst>
                <a:tab pos="10047758" algn="l"/>
              </a:tabLst>
            </a:pPr>
            <a:r>
              <a:rPr lang="en-US" sz="2800" b="1" dirty="0">
                <a:latin typeface="Times New Roman" panose="02020603050405020304" pitchFamily="18" charset="0"/>
                <a:cs typeface="Times New Roman" panose="02020603050405020304" pitchFamily="18" charset="0"/>
              </a:rPr>
              <a:t>Sinhgad College of Engineering</a:t>
            </a:r>
            <a:r>
              <a:rPr lang="en-US" sz="3200" b="1" dirty="0">
                <a:latin typeface="Times New Roman" panose="02020603050405020304" pitchFamily="18" charset="0"/>
                <a:cs typeface="Times New Roman" panose="02020603050405020304" pitchFamily="18" charset="0"/>
              </a:rPr>
              <a:t/>
            </a:r>
            <a:br>
              <a:rPr lang="en-US" sz="32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Department of Computer Engineering</a:t>
            </a:r>
            <a:endParaRPr lang="en-IN" spc="-1" dirty="0">
              <a:latin typeface="Times New Roman" panose="02020603050405020304" pitchFamily="18" charset="0"/>
              <a:cs typeface="Times New Roman" panose="02020603050405020304" pitchFamily="18" charset="0"/>
            </a:endParaRPr>
          </a:p>
        </p:txBody>
      </p:sp>
      <p:sp>
        <p:nvSpPr>
          <p:cNvPr id="4" name="Rectangle 3"/>
          <p:cNvSpPr/>
          <p:nvPr/>
        </p:nvSpPr>
        <p:spPr>
          <a:xfrm>
            <a:off x="1835818" y="1476895"/>
            <a:ext cx="8508332" cy="1938992"/>
          </a:xfrm>
          <a:prstGeom prst="rect">
            <a:avLst/>
          </a:prstGeom>
        </p:spPr>
        <p:txBody>
          <a:bodyPr wrap="square">
            <a:spAutoFit/>
          </a:bodyPr>
          <a:lstStyle/>
          <a:p>
            <a:pPr algn="ctr"/>
            <a:r>
              <a:rPr lang="en-US" sz="2400" b="1" dirty="0">
                <a:solidFill>
                  <a:schemeClr val="bg2">
                    <a:lumMod val="75000"/>
                  </a:schemeClr>
                </a:solidFill>
                <a:latin typeface="Times New Roman" panose="02020603050405020304" pitchFamily="18" charset="0"/>
                <a:cs typeface="Times New Roman" panose="02020603050405020304" pitchFamily="18" charset="0"/>
              </a:rPr>
              <a:t>BE Project Stage I Presentation</a:t>
            </a:r>
          </a:p>
          <a:p>
            <a:pPr algn="ctr"/>
            <a:r>
              <a:rPr lang="en-US" sz="2400" dirty="0">
                <a:latin typeface="Times New Roman" panose="02020603050405020304" pitchFamily="18" charset="0"/>
                <a:cs typeface="Times New Roman" panose="02020603050405020304" pitchFamily="18" charset="0"/>
              </a:rPr>
              <a:t>on</a:t>
            </a:r>
          </a:p>
          <a:p>
            <a:pPr algn="ctr"/>
            <a:r>
              <a:rPr lang="en-IN" sz="2400" b="1" dirty="0">
                <a:latin typeface="Times New Roman" panose="02020603050405020304" pitchFamily="18" charset="0"/>
                <a:cs typeface="Times New Roman" panose="02020603050405020304" pitchFamily="18" charset="0"/>
              </a:rPr>
              <a:t>Vidhan: A Gamified Approach to Learning the Indian Constitution with AI </a:t>
            </a:r>
            <a:r>
              <a:rPr lang="en-IN" sz="2400" b="1" dirty="0" smtClean="0">
                <a:latin typeface="Times New Roman" panose="02020603050405020304" pitchFamily="18" charset="0"/>
                <a:cs typeface="Times New Roman" panose="02020603050405020304" pitchFamily="18" charset="0"/>
              </a:rPr>
              <a:t>Assistance</a:t>
            </a:r>
            <a:endParaRPr lang="en-IN" sz="2400" b="1"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by</a:t>
            </a:r>
          </a:p>
        </p:txBody>
      </p:sp>
      <p:sp>
        <p:nvSpPr>
          <p:cNvPr id="7" name="Rectangle 6"/>
          <p:cNvSpPr/>
          <p:nvPr/>
        </p:nvSpPr>
        <p:spPr>
          <a:xfrm>
            <a:off x="2380246" y="3402774"/>
            <a:ext cx="7605963" cy="1569660"/>
          </a:xfrm>
          <a:prstGeom prst="rect">
            <a:avLst/>
          </a:prstGeom>
        </p:spPr>
        <p:txBody>
          <a:bodyPr wrap="square">
            <a:spAutoFit/>
          </a:bodyPr>
          <a:lstStyle/>
          <a:p>
            <a:pPr marL="127000">
              <a:spcBef>
                <a:spcPts val="600"/>
              </a:spcBef>
              <a:buSzPts val="1600"/>
            </a:pPr>
            <a:r>
              <a:rPr lang="en-IN" sz="2400" dirty="0">
                <a:latin typeface="Times New Roman" panose="02020603050405020304" pitchFamily="18" charset="0"/>
                <a:cs typeface="Times New Roman" panose="02020603050405020304" pitchFamily="18" charset="0"/>
              </a:rPr>
              <a:t>Patil Yashkumar </a:t>
            </a:r>
            <a:r>
              <a:rPr lang="en-IN" sz="2400" dirty="0" smtClean="0">
                <a:latin typeface="Times New Roman" panose="02020603050405020304" pitchFamily="18" charset="0"/>
                <a:cs typeface="Times New Roman" panose="02020603050405020304" pitchFamily="18" charset="0"/>
              </a:rPr>
              <a:t>Shamkant</a:t>
            </a:r>
            <a:r>
              <a:rPr lang="en-US" sz="2400" dirty="0" smtClean="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72231439G</a:t>
            </a:r>
            <a:r>
              <a:rPr lang="en-GB" sz="2400" dirty="0" smtClean="0">
                <a:latin typeface="Times New Roman" panose="02020603050405020304" pitchFamily="18" charset="0"/>
                <a:cs typeface="Times New Roman" panose="02020603050405020304" pitchFamily="18" charset="0"/>
              </a:rPr>
              <a:t>] [405B046]</a:t>
            </a:r>
          </a:p>
          <a:p>
            <a:pPr marL="127000" lvl="0">
              <a:buSzPts val="1600"/>
            </a:pPr>
            <a:r>
              <a:rPr lang="en-GB" sz="2400" dirty="0" smtClean="0">
                <a:latin typeface="Times New Roman" panose="02020603050405020304" pitchFamily="18" charset="0"/>
                <a:cs typeface="Times New Roman" panose="02020603050405020304" pitchFamily="18" charset="0"/>
              </a:rPr>
              <a:t>Lomte Dhanashree Sanjay 	[7</a:t>
            </a:r>
            <a:r>
              <a:rPr lang="en-IN" sz="2400" dirty="0" smtClean="0">
                <a:latin typeface="Times New Roman" panose="02020603050405020304" pitchFamily="18" charset="0"/>
                <a:cs typeface="Times New Roman" panose="02020603050405020304" pitchFamily="18" charset="0"/>
              </a:rPr>
              <a:t>2308274L</a:t>
            </a:r>
            <a:r>
              <a:rPr lang="en-GB" sz="2400" dirty="0" smtClean="0">
                <a:latin typeface="Times New Roman" panose="02020603050405020304" pitchFamily="18" charset="0"/>
                <a:cs typeface="Times New Roman" panose="02020603050405020304" pitchFamily="18" charset="0"/>
              </a:rPr>
              <a:t>] [405B007]</a:t>
            </a:r>
            <a:endParaRPr lang="en-GB" sz="2400" dirty="0">
              <a:latin typeface="Times New Roman" panose="02020603050405020304" pitchFamily="18" charset="0"/>
              <a:cs typeface="Times New Roman" panose="02020603050405020304" pitchFamily="18" charset="0"/>
            </a:endParaRPr>
          </a:p>
          <a:p>
            <a:pPr marL="127000" lvl="0">
              <a:buSzPts val="1600"/>
            </a:pPr>
            <a:r>
              <a:rPr lang="en-GB" sz="2400" dirty="0" smtClean="0">
                <a:latin typeface="Times New Roman" panose="02020603050405020304" pitchFamily="18" charset="0"/>
                <a:cs typeface="Times New Roman" panose="02020603050405020304" pitchFamily="18" charset="0"/>
              </a:rPr>
              <a:t>Patil Tejas Kailas 			[</a:t>
            </a:r>
            <a:r>
              <a:rPr lang="en-GB" sz="2400" dirty="0">
                <a:latin typeface="Times New Roman" panose="02020603050405020304" pitchFamily="18" charset="0"/>
                <a:cs typeface="Times New Roman" panose="02020603050405020304" pitchFamily="18" charset="0"/>
              </a:rPr>
              <a:t>72231433H</a:t>
            </a:r>
            <a:r>
              <a:rPr lang="en-GB" sz="2400" dirty="0" smtClean="0">
                <a:latin typeface="Times New Roman" panose="02020603050405020304" pitchFamily="18" charset="0"/>
                <a:cs typeface="Times New Roman" panose="02020603050405020304" pitchFamily="18" charset="0"/>
              </a:rPr>
              <a:t>] [405B047]</a:t>
            </a:r>
            <a:endParaRPr lang="en-GB" sz="2400" dirty="0">
              <a:latin typeface="Times New Roman" panose="02020603050405020304" pitchFamily="18" charset="0"/>
              <a:cs typeface="Times New Roman" panose="02020603050405020304" pitchFamily="18" charset="0"/>
            </a:endParaRPr>
          </a:p>
          <a:p>
            <a:pPr marL="127000" lvl="0">
              <a:buSzPts val="1600"/>
            </a:pPr>
            <a:r>
              <a:rPr lang="en-GB" sz="2400" dirty="0">
                <a:latin typeface="Times New Roman" panose="02020603050405020304" pitchFamily="18" charset="0"/>
                <a:cs typeface="Times New Roman" panose="02020603050405020304" pitchFamily="18" charset="0"/>
              </a:rPr>
              <a:t>Khedkar </a:t>
            </a:r>
            <a:r>
              <a:rPr lang="en-GB" sz="2400" dirty="0" smtClean="0">
                <a:latin typeface="Times New Roman" panose="02020603050405020304" pitchFamily="18" charset="0"/>
                <a:cs typeface="Times New Roman" panose="02020603050405020304" pitchFamily="18" charset="0"/>
              </a:rPr>
              <a:t>Aditi </a:t>
            </a:r>
            <a:r>
              <a:rPr lang="en-GB" sz="2400" dirty="0">
                <a:latin typeface="Times New Roman" panose="02020603050405020304" pitchFamily="18" charset="0"/>
                <a:cs typeface="Times New Roman" panose="02020603050405020304" pitchFamily="18" charset="0"/>
              </a:rPr>
              <a:t>Ambadas </a:t>
            </a:r>
            <a:r>
              <a:rPr lang="en-GB" sz="2400" dirty="0" smtClean="0">
                <a:latin typeface="Times New Roman" panose="02020603050405020304" pitchFamily="18" charset="0"/>
                <a:cs typeface="Times New Roman" panose="02020603050405020304" pitchFamily="18" charset="0"/>
              </a:rPr>
              <a:t>		[</a:t>
            </a:r>
            <a:r>
              <a:rPr lang="en-IN" sz="2400" dirty="0" smtClean="0">
                <a:latin typeface="Times New Roman" panose="02020603050405020304" pitchFamily="18" charset="0"/>
                <a:cs typeface="Times New Roman" panose="02020603050405020304" pitchFamily="18" charset="0"/>
              </a:rPr>
              <a:t>72308261J</a:t>
            </a:r>
            <a:r>
              <a:rPr lang="en-GB" sz="2400" dirty="0" smtClean="0">
                <a:latin typeface="Times New Roman" panose="02020603050405020304" pitchFamily="18" charset="0"/>
                <a:cs typeface="Times New Roman" panose="02020603050405020304" pitchFamily="18" charset="0"/>
              </a:rPr>
              <a:t>] [405B006]</a:t>
            </a:r>
            <a:endParaRPr lang="en-GB" sz="2400" dirty="0">
              <a:latin typeface="Times New Roman" panose="02020603050405020304" pitchFamily="18" charset="0"/>
              <a:cs typeface="Times New Roman" panose="02020603050405020304" pitchFamily="18" charset="0"/>
            </a:endParaRPr>
          </a:p>
        </p:txBody>
      </p:sp>
      <p:sp>
        <p:nvSpPr>
          <p:cNvPr id="8" name="Subtitle 2"/>
          <p:cNvSpPr txBox="1"/>
          <p:nvPr/>
        </p:nvSpPr>
        <p:spPr>
          <a:xfrm>
            <a:off x="2121568" y="5225160"/>
            <a:ext cx="7696200" cy="838200"/>
          </a:xfrm>
          <a:prstGeom prst="rect">
            <a:avLst/>
          </a:prstGeom>
        </p:spPr>
        <p:txBody>
          <a:bodyPr vert="horz" lIns="91440" tIns="45720" rIns="91440" bIns="45720" rtlCol="0">
            <a:normAutofit lnSpcReduction="1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pPr>
            <a:r>
              <a:rPr kumimoji="0" lang="en-US" sz="24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Under the guidance of</a:t>
            </a:r>
            <a:endParaRPr kumimoji="0" lang="en-US" sz="2600" b="1"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pPr>
            <a:r>
              <a:rPr kumimoji="0" lang="en-US" sz="2200" b="0" i="0" u="none" strike="noStrike" kern="1200" cap="none" spc="0" normalizeH="0" baseline="0" noProof="0" dirty="0" smtClean="0">
                <a:ln>
                  <a:noFill/>
                </a:ln>
                <a:effectLst/>
                <a:uLnTx/>
                <a:uFillTx/>
                <a:latin typeface="Times New Roman" panose="02020603050405020304" pitchFamily="18" charset="0"/>
                <a:cs typeface="Times New Roman" panose="02020603050405020304" pitchFamily="18" charset="0"/>
              </a:rPr>
              <a:t>Prof.</a:t>
            </a:r>
            <a:r>
              <a:rPr kumimoji="0" lang="en-US" sz="2200" b="0" i="0" u="none" strike="noStrike" kern="1200" cap="none" spc="0" normalizeH="0" noProof="0" dirty="0" smtClean="0">
                <a:ln>
                  <a:noFill/>
                </a:ln>
                <a:effectLst/>
                <a:uLnTx/>
                <a:uFillTx/>
                <a:latin typeface="Times New Roman" panose="02020603050405020304" pitchFamily="18" charset="0"/>
                <a:cs typeface="Times New Roman" panose="02020603050405020304" pitchFamily="18" charset="0"/>
              </a:rPr>
              <a:t> </a:t>
            </a:r>
            <a:r>
              <a:rPr kumimoji="0" lang="en-US" sz="2200" b="0" i="0" u="none" strike="noStrike" kern="1200" cap="none" spc="0" normalizeH="0" baseline="0" noProof="0" dirty="0" smtClean="0">
                <a:ln>
                  <a:noFill/>
                </a:ln>
                <a:effectLst/>
                <a:uLnTx/>
                <a:uFillTx/>
                <a:latin typeface="Times New Roman" panose="02020603050405020304" pitchFamily="18" charset="0"/>
                <a:cs typeface="Times New Roman" panose="02020603050405020304" pitchFamily="18" charset="0"/>
              </a:rPr>
              <a:t>R.A.Vasmatkar</a:t>
            </a:r>
            <a:endParaRPr kumimoji="0" lang="en-US" sz="22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4FAB73BC-B049-4115-A692-8D63A059BFB8}" type="slidenum">
              <a:rPr lang="en-US" smtClean="0">
                <a:latin typeface="Times New Roman" panose="02020603050405020304" pitchFamily="18" charset="0"/>
                <a:cs typeface="Times New Roman" panose="02020603050405020304" pitchFamily="18" charset="0"/>
              </a:rPr>
              <a:pPr/>
              <a:t>1</a:t>
            </a:fld>
            <a:endParaRPr lang="en-US" dirty="0">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406400" y="1249791"/>
            <a:ext cx="92925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5690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Slide Number Placeholder 6"/>
          <p:cNvSpPr>
            <a:spLocks noGrp="1"/>
          </p:cNvSpPr>
          <p:nvPr>
            <p:ph type="sldNum" sz="quarter" idx="12"/>
          </p:nvPr>
        </p:nvSpPr>
        <p:spPr/>
        <p:txBody>
          <a:bodyPr/>
          <a:lstStyle/>
          <a:p>
            <a:fld id="{4FAB73BC-B049-4115-A692-8D63A059BFB8}" type="slidenum">
              <a:rPr lang="en-US" smtClean="0"/>
              <a:t>2</a:t>
            </a:fld>
            <a:endParaRPr lang="en-US" dirty="0"/>
          </a:p>
        </p:txBody>
      </p:sp>
      <p:sp>
        <p:nvSpPr>
          <p:cNvPr id="11" name="Rectangle 10"/>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12" name="Rectangle 11"/>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t>
            </a:r>
            <a:r>
              <a:rPr lang="en-IN" sz="1400" dirty="0" smtClean="0">
                <a:latin typeface="Times New Roman" panose="02020603050405020304" pitchFamily="18" charset="0"/>
                <a:cs typeface="Times New Roman" panose="02020603050405020304" pitchFamily="18" charset="0"/>
              </a:rPr>
              <a:t>Assistance</a:t>
            </a:r>
            <a:endParaRPr lang="en-IN" sz="1400" dirty="0">
              <a:latin typeface="Times New Roman" panose="02020603050405020304" pitchFamily="18" charset="0"/>
              <a:cs typeface="Times New Roman" panose="02020603050405020304" pitchFamily="18" charset="0"/>
            </a:endParaRPr>
          </a:p>
        </p:txBody>
      </p:sp>
      <p:sp>
        <p:nvSpPr>
          <p:cNvPr id="13" name="Title 3"/>
          <p:cNvSpPr txBox="1">
            <a:spLocks/>
          </p:cNvSpPr>
          <p:nvPr/>
        </p:nvSpPr>
        <p:spPr>
          <a:xfrm>
            <a:off x="732459" y="503813"/>
            <a:ext cx="2230398" cy="593725"/>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300" dirty="0" smtClean="0">
                <a:solidFill>
                  <a:schemeClr val="tx1"/>
                </a:solidFill>
                <a:latin typeface="Times New Roman" panose="02020603050405020304" pitchFamily="18" charset="0"/>
                <a:cs typeface="Times New Roman" panose="02020603050405020304" pitchFamily="18" charset="0"/>
              </a:rPr>
              <a:t>Introduction</a:t>
            </a:r>
            <a:endParaRPr lang="en-IN" sz="3200" dirty="0">
              <a:solidFill>
                <a:schemeClr val="tx1"/>
              </a:solidFill>
              <a:latin typeface="Times New Roman" panose="02020603050405020304" pitchFamily="18" charset="0"/>
              <a:cs typeface="Times New Roman" panose="02020603050405020304" pitchFamily="18" charset="0"/>
            </a:endParaRPr>
          </a:p>
        </p:txBody>
      </p:sp>
      <p:cxnSp>
        <p:nvCxnSpPr>
          <p:cNvPr id="16" name="Straight Connector 15"/>
          <p:cNvCxnSpPr/>
          <p:nvPr/>
        </p:nvCxnSpPr>
        <p:spPr>
          <a:xfrm>
            <a:off x="489435" y="1146199"/>
            <a:ext cx="9264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732459" y="1415224"/>
            <a:ext cx="10230004" cy="4401205"/>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Constitution of India is a vast, complex, and detailed document, making it difficult for many people to access, understand, and remember its important concepts.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Learning the Constitution is essential because it defines our rights, duties, freedoms, and the principles that guide our nation.</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Knowledge of the Constitution helps every </a:t>
            </a:r>
            <a:r>
              <a:rPr lang="en-US" sz="2000" dirty="0" smtClean="0">
                <a:latin typeface="Times New Roman" panose="02020603050405020304" pitchFamily="18" charset="0"/>
                <a:cs typeface="Times New Roman" panose="02020603050405020304" pitchFamily="18" charset="0"/>
              </a:rPr>
              <a:t>citizen students</a:t>
            </a:r>
            <a:r>
              <a:rPr lang="en-US" sz="2000" dirty="0">
                <a:latin typeface="Times New Roman" panose="02020603050405020304" pitchFamily="18" charset="0"/>
                <a:cs typeface="Times New Roman" panose="02020603050405020304" pitchFamily="18" charset="0"/>
              </a:rPr>
              <a:t>, adults, voters, and </a:t>
            </a:r>
            <a:r>
              <a:rPr lang="en-US" sz="2000" dirty="0" smtClean="0">
                <a:latin typeface="Times New Roman" panose="02020603050405020304" pitchFamily="18" charset="0"/>
                <a:cs typeface="Times New Roman" panose="02020603050405020304" pitchFamily="18" charset="0"/>
              </a:rPr>
              <a:t>professionals to </a:t>
            </a:r>
            <a:r>
              <a:rPr lang="en-US" sz="2000" dirty="0">
                <a:latin typeface="Times New Roman" panose="02020603050405020304" pitchFamily="18" charset="0"/>
                <a:cs typeface="Times New Roman" panose="02020603050405020304" pitchFamily="18" charset="0"/>
              </a:rPr>
              <a:t>become more aware, responsible, and empowered members of society.</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Everyone should have basic knowledge of the Constitution, as it directly affects daily life, decision-making, and participation in democracy.</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To support the public in learning the Constitution in a simple, engaging, and interactive way, we are developing VIDHAN, a gamified learning platform with AI assistance.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83527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13" name="Rectangle 12"/>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4" name="Content Placeholder 2"/>
          <p:cNvSpPr txBox="1">
            <a:spLocks/>
          </p:cNvSpPr>
          <p:nvPr/>
        </p:nvSpPr>
        <p:spPr>
          <a:xfrm>
            <a:off x="529105" y="1320817"/>
            <a:ext cx="9567395" cy="4125928"/>
          </a:xfrm>
          <a:prstGeom prst="rect">
            <a:avLst/>
          </a:prstGeom>
        </p:spPr>
        <p:txBody>
          <a:bodyPr>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lnSpc>
                <a:spcPct val="150000"/>
              </a:lnSpc>
            </a:pPr>
            <a:r>
              <a:rPr lang="en-US" dirty="0" smtClean="0">
                <a:solidFill>
                  <a:schemeClr val="tx1"/>
                </a:solidFill>
                <a:latin typeface="Times New Roman" panose="02020603050405020304" pitchFamily="18" charset="0"/>
                <a:cs typeface="Times New Roman" panose="02020603050405020304" pitchFamily="18" charset="0"/>
              </a:rPr>
              <a:t>The project focuses on developing an interactive web platform that transforms learning about the Constitution into an engaging and game-like experience.</a:t>
            </a:r>
          </a:p>
          <a:p>
            <a:pPr lvl="1" algn="just">
              <a:lnSpc>
                <a:spcPct val="150000"/>
              </a:lnSpc>
              <a:buClrTx/>
              <a:buFont typeface="Arial" panose="020B0604020202020204" pitchFamily="34" charset="0"/>
              <a:buChar char="•"/>
            </a:pPr>
            <a:r>
              <a:rPr lang="en-US" sz="2000" dirty="0" smtClean="0">
                <a:solidFill>
                  <a:schemeClr val="tx1"/>
                </a:solidFill>
                <a:latin typeface="Times New Roman" panose="02020603050405020304" pitchFamily="18" charset="0"/>
                <a:cs typeface="Times New Roman" panose="02020603050405020304" pitchFamily="18" charset="0"/>
              </a:rPr>
              <a:t>Domain: Ed-Tech (Educational Technology) &amp; </a:t>
            </a:r>
            <a:r>
              <a:rPr lang="en-US" sz="2000" dirty="0" err="1" smtClean="0">
                <a:solidFill>
                  <a:schemeClr val="tx1"/>
                </a:solidFill>
                <a:latin typeface="Times New Roman" panose="02020603050405020304" pitchFamily="18" charset="0"/>
                <a:cs typeface="Times New Roman" panose="02020603050405020304" pitchFamily="18" charset="0"/>
              </a:rPr>
              <a:t>Civ</a:t>
            </a:r>
            <a:r>
              <a:rPr lang="en-US" sz="2000" dirty="0" smtClean="0">
                <a:solidFill>
                  <a:schemeClr val="tx1"/>
                </a:solidFill>
                <a:latin typeface="Times New Roman" panose="02020603050405020304" pitchFamily="18" charset="0"/>
                <a:cs typeface="Times New Roman" panose="02020603050405020304" pitchFamily="18" charset="0"/>
              </a:rPr>
              <a:t>-Tech (Civic Technology)</a:t>
            </a:r>
          </a:p>
          <a:p>
            <a:pPr lvl="1" algn="just">
              <a:lnSpc>
                <a:spcPct val="150000"/>
              </a:lnSpc>
              <a:buClrTx/>
              <a:buFont typeface="Arial" panose="020B0604020202020204" pitchFamily="34" charset="0"/>
              <a:buChar char="•"/>
            </a:pPr>
            <a:r>
              <a:rPr lang="en-US" sz="2000" dirty="0" smtClean="0">
                <a:solidFill>
                  <a:schemeClr val="tx1"/>
                </a:solidFill>
                <a:latin typeface="Times New Roman" panose="02020603050405020304" pitchFamily="18" charset="0"/>
                <a:cs typeface="Times New Roman" panose="02020603050405020304" pitchFamily="18" charset="0"/>
              </a:rPr>
              <a:t>Subject Matter: The Constitution of India</a:t>
            </a:r>
          </a:p>
          <a:p>
            <a:pPr lvl="1" algn="just">
              <a:lnSpc>
                <a:spcPct val="150000"/>
              </a:lnSpc>
              <a:buClrTx/>
              <a:buFont typeface="Arial" panose="020B0604020202020204" pitchFamily="34" charset="0"/>
              <a:buChar char="•"/>
            </a:pPr>
            <a:r>
              <a:rPr lang="en-US" sz="2000" dirty="0" smtClean="0">
                <a:solidFill>
                  <a:schemeClr val="tx1"/>
                </a:solidFill>
                <a:latin typeface="Times New Roman" panose="02020603050405020304" pitchFamily="18" charset="0"/>
                <a:cs typeface="Times New Roman" panose="02020603050405020304" pitchFamily="18" charset="0"/>
              </a:rPr>
              <a:t>Core Objective: To simplify complex constitutional articles, amendments, and legal principles through interactive gameplay.</a:t>
            </a:r>
            <a:endParaRPr lang="en-US" sz="2000" dirty="0">
              <a:solidFill>
                <a:schemeClr val="tx1"/>
              </a:solidFill>
              <a:latin typeface="Times New Roman" panose="02020603050405020304" pitchFamily="18" charset="0"/>
              <a:cs typeface="Times New Roman" panose="02020603050405020304" pitchFamily="18" charset="0"/>
            </a:endParaRPr>
          </a:p>
          <a:p>
            <a:pPr marL="201168" lvl="1" indent="0" algn="just">
              <a:lnSpc>
                <a:spcPct val="150000"/>
              </a:lnSpc>
              <a:buNone/>
            </a:pPr>
            <a:r>
              <a:rPr lang="en-US" sz="2000" dirty="0">
                <a:solidFill>
                  <a:schemeClr val="tx1"/>
                </a:solidFill>
                <a:latin typeface="Times New Roman" panose="02020603050405020304" pitchFamily="18" charset="0"/>
                <a:cs typeface="Times New Roman" panose="02020603050405020304" pitchFamily="18" charset="0"/>
              </a:rPr>
              <a:t>The primary goal is to enhance constitutional literacy among citizens through gamification.</a:t>
            </a:r>
          </a:p>
        </p:txBody>
      </p:sp>
      <p:sp>
        <p:nvSpPr>
          <p:cNvPr id="16" name="Slide Number Placeholder 15"/>
          <p:cNvSpPr>
            <a:spLocks noGrp="1"/>
          </p:cNvSpPr>
          <p:nvPr>
            <p:ph type="sldNum" sz="quarter" idx="12"/>
          </p:nvPr>
        </p:nvSpPr>
        <p:spPr/>
        <p:txBody>
          <a:bodyPr/>
          <a:lstStyle/>
          <a:p>
            <a:fld id="{4FAB73BC-B049-4115-A692-8D63A059BFB8}" type="slidenum">
              <a:rPr lang="en-US" smtClean="0">
                <a:latin typeface="Times New Roman" panose="02020603050405020304" pitchFamily="18" charset="0"/>
                <a:cs typeface="Times New Roman" panose="02020603050405020304" pitchFamily="18" charset="0"/>
              </a:rPr>
              <a:pPr/>
              <a:t>3</a:t>
            </a:fld>
            <a:endParaRPr lang="en-US" dirty="0">
              <a:latin typeface="Times New Roman" panose="02020603050405020304" pitchFamily="18" charset="0"/>
              <a:cs typeface="Times New Roman" panose="02020603050405020304" pitchFamily="18" charset="0"/>
            </a:endParaRPr>
          </a:p>
        </p:txBody>
      </p:sp>
      <p:cxnSp>
        <p:nvCxnSpPr>
          <p:cNvPr id="19" name="Straight Connector 18"/>
          <p:cNvCxnSpPr/>
          <p:nvPr/>
        </p:nvCxnSpPr>
        <p:spPr>
          <a:xfrm>
            <a:off x="529105" y="1181100"/>
            <a:ext cx="91698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508244" y="395891"/>
            <a:ext cx="4368312" cy="830997"/>
          </a:xfrm>
          <a:prstGeom prst="rect">
            <a:avLst/>
          </a:prstGeom>
        </p:spPr>
        <p:txBody>
          <a:bodyPr wrap="none">
            <a:spAutoFit/>
          </a:bodyPr>
          <a:lstStyle/>
          <a:p>
            <a:pPr algn="just">
              <a:lnSpc>
                <a:spcPct val="150000"/>
              </a:lnSpc>
            </a:pPr>
            <a:r>
              <a:rPr lang="en-US" sz="3200" dirty="0" smtClean="0">
                <a:latin typeface="Times New Roman" panose="02020603050405020304" pitchFamily="18" charset="0"/>
                <a:cs typeface="Times New Roman" panose="02020603050405020304" pitchFamily="18" charset="0"/>
              </a:rPr>
              <a:t>VIDHAN : Project </a:t>
            </a:r>
            <a:r>
              <a:rPr lang="en-US" sz="3200" dirty="0">
                <a:latin typeface="Times New Roman" panose="02020603050405020304" pitchFamily="18" charset="0"/>
                <a:cs typeface="Times New Roman" panose="02020603050405020304" pitchFamily="18" charset="0"/>
              </a:rPr>
              <a:t>Area  </a:t>
            </a:r>
          </a:p>
        </p:txBody>
      </p:sp>
    </p:spTree>
    <p:extLst>
      <p:ext uri="{BB962C8B-B14F-4D97-AF65-F5344CB8AC3E}">
        <p14:creationId xmlns:p14="http://schemas.microsoft.com/office/powerpoint/2010/main" val="41263046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4" name="Title 3"/>
          <p:cNvSpPr>
            <a:spLocks noGrp="1"/>
          </p:cNvSpPr>
          <p:nvPr>
            <p:ph type="title" idx="4294967295"/>
          </p:nvPr>
        </p:nvSpPr>
        <p:spPr>
          <a:xfrm>
            <a:off x="693938" y="626754"/>
            <a:ext cx="2127250" cy="511175"/>
          </a:xfrm>
        </p:spPr>
        <p:txBody>
          <a:bodyPr>
            <a:normAutofit/>
          </a:bodyPr>
          <a:lstStyle/>
          <a:p>
            <a:r>
              <a:rPr lang="en-US" sz="3200" dirty="0" smtClean="0">
                <a:solidFill>
                  <a:schemeClr val="tx1"/>
                </a:solidFill>
                <a:latin typeface="Times New Roman" panose="02020603050405020304" pitchFamily="18" charset="0"/>
                <a:cs typeface="Times New Roman" panose="02020603050405020304" pitchFamily="18" charset="0"/>
              </a:rPr>
              <a:t>Motivation </a:t>
            </a: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565150" y="1310528"/>
            <a:ext cx="10972222" cy="4555093"/>
          </a:xfrm>
          <a:prstGeom prst="rect">
            <a:avLst/>
          </a:prstGeom>
        </p:spPr>
        <p:txBody>
          <a:bodyPr wrap="square">
            <a:spAutoFit/>
          </a:bodyPr>
          <a:lstStyle/>
          <a:p>
            <a:pPr algn="just">
              <a:spcBef>
                <a:spcPts val="600"/>
              </a:spcBef>
              <a:spcAft>
                <a:spcPts val="600"/>
              </a:spcAft>
            </a:pPr>
            <a:r>
              <a:rPr lang="en-US" sz="2000" b="1" dirty="0">
                <a:latin typeface="Times New Roman" panose="02020603050405020304" pitchFamily="18" charset="0"/>
                <a:cs typeface="Times New Roman" panose="02020603050405020304" pitchFamily="18" charset="0"/>
              </a:rPr>
              <a:t>The "Boring" Barrier</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pPr algn="just">
              <a:spcBef>
                <a:spcPts val="600"/>
              </a:spcBef>
              <a:spcAft>
                <a:spcPts val="600"/>
              </a:spcAft>
            </a:pPr>
            <a:r>
              <a:rPr lang="en-US" sz="2000" dirty="0" smtClean="0">
                <a:latin typeface="Times New Roman" panose="02020603050405020304" pitchFamily="18" charset="0"/>
                <a:cs typeface="Times New Roman" panose="02020603050405020304" pitchFamily="18" charset="0"/>
              </a:rPr>
              <a:t>	Traditional </a:t>
            </a:r>
            <a:r>
              <a:rPr lang="en-US" sz="2000" dirty="0">
                <a:latin typeface="Times New Roman" panose="02020603050405020304" pitchFamily="18" charset="0"/>
                <a:cs typeface="Times New Roman" panose="02020603050405020304" pitchFamily="18" charset="0"/>
              </a:rPr>
              <a:t>methods (dense textbooks, long articles) make learning the constitution feel </a:t>
            </a:r>
            <a:r>
              <a:rPr lang="en-US" sz="2000" dirty="0" smtClean="0">
                <a:latin typeface="Times New Roman" panose="02020603050405020304" pitchFamily="18" charset="0"/>
                <a:cs typeface="Times New Roman" panose="02020603050405020304" pitchFamily="18" charset="0"/>
              </a:rPr>
              <a:t>difficult, 	not </a:t>
            </a:r>
            <a:r>
              <a:rPr lang="en-US" sz="2000" dirty="0">
                <a:latin typeface="Times New Roman" panose="02020603050405020304" pitchFamily="18" charset="0"/>
                <a:cs typeface="Times New Roman" panose="02020603050405020304" pitchFamily="18" charset="0"/>
              </a:rPr>
              <a:t>an </a:t>
            </a:r>
            <a:r>
              <a:rPr lang="en-US" sz="2000" dirty="0" smtClean="0">
                <a:latin typeface="Times New Roman" panose="02020603050405020304" pitchFamily="18" charset="0"/>
                <a:cs typeface="Times New Roman" panose="02020603050405020304" pitchFamily="18" charset="0"/>
              </a:rPr>
              <a:t>opportunity</a:t>
            </a:r>
            <a:r>
              <a:rPr lang="en-US" sz="2000" dirty="0">
                <a:latin typeface="Times New Roman" panose="02020603050405020304" pitchFamily="18" charset="0"/>
                <a:cs typeface="Times New Roman" panose="02020603050405020304" pitchFamily="18" charset="0"/>
              </a:rPr>
              <a:t>. This alienates modern learners, especially </a:t>
            </a:r>
            <a:r>
              <a:rPr lang="en-US" sz="2000" dirty="0" smtClean="0">
                <a:latin typeface="Times New Roman" panose="02020603050405020304" pitchFamily="18" charset="0"/>
                <a:cs typeface="Times New Roman" panose="02020603050405020304" pitchFamily="18" charset="0"/>
              </a:rPr>
              <a:t>students preferring interactive learning.</a:t>
            </a:r>
          </a:p>
          <a:p>
            <a:pPr algn="just">
              <a:spcBef>
                <a:spcPts val="600"/>
              </a:spcBef>
              <a:spcAft>
                <a:spcPts val="600"/>
              </a:spcAft>
            </a:pPr>
            <a:r>
              <a:rPr lang="en-US" sz="2000" b="1" dirty="0" smtClean="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Civic Knowledge Gap</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pPr lvl="1" algn="just">
              <a:spcBef>
                <a:spcPts val="600"/>
              </a:spcBef>
              <a:spcAft>
                <a:spcPts val="600"/>
              </a:spcAft>
            </a:pPr>
            <a:r>
              <a:rPr lang="en-US" sz="2000" dirty="0">
                <a:latin typeface="Times New Roman" panose="02020603050405020304" pitchFamily="18" charset="0"/>
                <a:cs typeface="Times New Roman" panose="02020603050405020304" pitchFamily="18" charset="0"/>
              </a:rPr>
              <a:t>When learning is difficult, a knowledge gap forms. Many citizens don't fully understand their fundamental rights, duties, or how their government works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lgn="just">
              <a:spcBef>
                <a:spcPts val="600"/>
              </a:spcBef>
              <a:spcAft>
                <a:spcPts val="600"/>
              </a:spcAft>
            </a:pPr>
            <a:r>
              <a:rPr lang="en-US" sz="2000" b="1" dirty="0" smtClean="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Power of Interactive Learning:</a:t>
            </a:r>
          </a:p>
          <a:p>
            <a:pPr algn="just">
              <a:spcBef>
                <a:spcPts val="600"/>
              </a:spcBef>
              <a:spcAft>
                <a:spcPts val="600"/>
              </a:spcAft>
            </a:pPr>
            <a:r>
              <a:rPr lang="en-US" sz="2000" dirty="0" smtClean="0">
                <a:latin typeface="Times New Roman" panose="02020603050405020304" pitchFamily="18" charset="0"/>
                <a:cs typeface="Times New Roman" panose="02020603050405020304" pitchFamily="18" charset="0"/>
              </a:rPr>
              <a:t>	We </a:t>
            </a:r>
            <a:r>
              <a:rPr lang="en-US" sz="2000" dirty="0">
                <a:latin typeface="Times New Roman" panose="02020603050405020304" pitchFamily="18" charset="0"/>
                <a:cs typeface="Times New Roman" panose="02020603050405020304" pitchFamily="18" charset="0"/>
              </a:rPr>
              <a:t>can transform this topic by making it active instead of passive. Gamification and interactivity turn </a:t>
            </a:r>
            <a:r>
              <a:rPr lang="en-US" sz="2000" dirty="0" smtClean="0">
                <a:latin typeface="Times New Roman" panose="02020603050405020304" pitchFamily="18" charset="0"/>
                <a:cs typeface="Times New Roman" panose="02020603050405020304" pitchFamily="18" charset="0"/>
              </a:rPr>
              <a:t>	learning 	into </a:t>
            </a:r>
            <a:r>
              <a:rPr lang="en-US" sz="2000" dirty="0">
                <a:latin typeface="Times New Roman" panose="02020603050405020304" pitchFamily="18" charset="0"/>
                <a:cs typeface="Times New Roman" panose="02020603050405020304" pitchFamily="18" charset="0"/>
              </a:rPr>
              <a:t>an engaging experience that is rewarding and memorable</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lgn="just">
              <a:spcBef>
                <a:spcPts val="600"/>
              </a:spcBef>
              <a:spcAft>
                <a:spcPts val="600"/>
              </a:spcAft>
            </a:pPr>
            <a:r>
              <a:rPr lang="en-US" sz="2000" dirty="0" smtClean="0">
                <a:latin typeface="Times New Roman" panose="02020603050405020304" pitchFamily="18" charset="0"/>
                <a:cs typeface="Times New Roman" panose="02020603050405020304" pitchFamily="18" charset="0"/>
              </a:rPr>
              <a:t>	The Ultimate Goal: Empowered Citizens</a:t>
            </a:r>
          </a:p>
          <a:p>
            <a:pPr algn="just">
              <a:spcBef>
                <a:spcPts val="600"/>
              </a:spcBef>
              <a:spcAft>
                <a:spcPts val="600"/>
              </a:spcAft>
            </a:pPr>
            <a:r>
              <a:rPr lang="en-US" sz="2000" dirty="0" smtClean="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565150" y="1176029"/>
            <a:ext cx="91338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4" name="Slide Number Placeholder 13"/>
          <p:cNvSpPr>
            <a:spLocks noGrp="1"/>
          </p:cNvSpPr>
          <p:nvPr>
            <p:ph type="sldNum" sz="quarter" idx="12"/>
          </p:nvPr>
        </p:nvSpPr>
        <p:spPr/>
        <p:txBody>
          <a:bodyPr/>
          <a:lstStyle/>
          <a:p>
            <a:fld id="{4FAB73BC-B049-4115-A692-8D63A059BFB8}" type="slidenum">
              <a:rPr lang="en-US" smtClean="0"/>
              <a:pPr/>
              <a:t>4</a:t>
            </a:fld>
            <a:endParaRPr lang="en-US" dirty="0"/>
          </a:p>
        </p:txBody>
      </p:sp>
    </p:spTree>
    <p:extLst>
      <p:ext uri="{BB962C8B-B14F-4D97-AF65-F5344CB8AC3E}">
        <p14:creationId xmlns:p14="http://schemas.microsoft.com/office/powerpoint/2010/main" val="22920572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Rectangle 6"/>
          <p:cNvSpPr/>
          <p:nvPr/>
        </p:nvSpPr>
        <p:spPr>
          <a:xfrm>
            <a:off x="461212" y="623889"/>
            <a:ext cx="3344778" cy="584775"/>
          </a:xfrm>
          <a:prstGeom prst="rect">
            <a:avLst/>
          </a:prstGeom>
        </p:spPr>
        <p:txBody>
          <a:bodyPr wrap="square">
            <a:spAutoFit/>
          </a:bodyPr>
          <a:lstStyle/>
          <a:p>
            <a:r>
              <a:rPr lang="en-US" sz="3200" dirty="0" smtClean="0">
                <a:latin typeface="Times New Roman" panose="02020603050405020304" pitchFamily="18" charset="0"/>
                <a:cs typeface="Times New Roman" panose="02020603050405020304" pitchFamily="18" charset="0"/>
              </a:rPr>
              <a:t>Problem Statement</a:t>
            </a:r>
            <a:endParaRPr lang="en-IN" sz="3200" dirty="0"/>
          </a:p>
        </p:txBody>
      </p:sp>
      <p:sp>
        <p:nvSpPr>
          <p:cNvPr id="8" name="Rectangle 7"/>
          <p:cNvSpPr/>
          <p:nvPr/>
        </p:nvSpPr>
        <p:spPr>
          <a:xfrm>
            <a:off x="474479" y="1524776"/>
            <a:ext cx="10316410" cy="4401205"/>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Indian Constitution is lengthy, complex, and written in legal language, making it difficult for </a:t>
            </a:r>
            <a:r>
              <a:rPr lang="en-US" sz="2000" dirty="0" smtClean="0">
                <a:latin typeface="Times New Roman" panose="02020603050405020304" pitchFamily="18" charset="0"/>
                <a:cs typeface="Times New Roman" panose="02020603050405020304" pitchFamily="18" charset="0"/>
              </a:rPr>
              <a:t>young students </a:t>
            </a:r>
            <a:r>
              <a:rPr lang="en-US" sz="2000" dirty="0">
                <a:latin typeface="Times New Roman" panose="02020603050405020304" pitchFamily="18" charset="0"/>
                <a:cs typeface="Times New Roman" panose="02020603050405020304" pitchFamily="18" charset="0"/>
              </a:rPr>
              <a:t>and the general public to understand.</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Traditional learning methods are text-heavy and non-interactive, leading to low interest and retention.</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There is no easily accessible, engaging, or gamified platform that simplifies constitutional concepts for all age groups.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Many citizens lack awareness of their rights, duties, and constitutional values, which affects informed participation in democracy.</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There is a need for a modern, user-friendly, and AI-assisted system that makes learning the Constitution simple, enjoyable, and accessible to everyone.</a:t>
            </a:r>
            <a:endParaRPr lang="en-IN" sz="2000" dirty="0">
              <a:latin typeface="Times New Roman" panose="02020603050405020304" pitchFamily="18" charset="0"/>
              <a:cs typeface="Times New Roman" panose="02020603050405020304" pitchFamily="18" charset="0"/>
            </a:endParaRPr>
          </a:p>
        </p:txBody>
      </p:sp>
      <p:sp>
        <p:nvSpPr>
          <p:cNvPr id="11" name="Rectangle 10"/>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cxnSp>
        <p:nvCxnSpPr>
          <p:cNvPr id="9" name="Straight Connector 8"/>
          <p:cNvCxnSpPr/>
          <p:nvPr/>
        </p:nvCxnSpPr>
        <p:spPr>
          <a:xfrm>
            <a:off x="474479" y="1320817"/>
            <a:ext cx="9093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12"/>
          </p:nvPr>
        </p:nvSpPr>
        <p:spPr/>
        <p:txBody>
          <a:bodyPr/>
          <a:lstStyle/>
          <a:p>
            <a:fld id="{4FAB73BC-B049-4115-A692-8D63A059BFB8}" type="slidenum">
              <a:rPr lang="en-US" smtClean="0"/>
              <a:pPr/>
              <a:t>5</a:t>
            </a:fld>
            <a:endParaRPr lang="en-US" dirty="0"/>
          </a:p>
        </p:txBody>
      </p:sp>
    </p:spTree>
    <p:extLst>
      <p:ext uri="{BB962C8B-B14F-4D97-AF65-F5344CB8AC3E}">
        <p14:creationId xmlns:p14="http://schemas.microsoft.com/office/powerpoint/2010/main" val="7204490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9" name="Slide Number Placeholder 8"/>
          <p:cNvSpPr>
            <a:spLocks noGrp="1"/>
          </p:cNvSpPr>
          <p:nvPr>
            <p:ph type="sldNum" sz="quarter" idx="12"/>
          </p:nvPr>
        </p:nvSpPr>
        <p:spPr/>
        <p:txBody>
          <a:bodyPr/>
          <a:lstStyle/>
          <a:p>
            <a:fld id="{4FAB73BC-B049-4115-A692-8D63A059BFB8}" type="slidenum">
              <a:rPr lang="en-US" smtClean="0"/>
              <a:t>6</a:t>
            </a:fld>
            <a:endParaRPr lang="en-US" dirty="0"/>
          </a:p>
        </p:txBody>
      </p:sp>
      <p:sp>
        <p:nvSpPr>
          <p:cNvPr id="4" name="Title 3"/>
          <p:cNvSpPr>
            <a:spLocks noGrp="1"/>
          </p:cNvSpPr>
          <p:nvPr>
            <p:ph type="title" idx="4294967295"/>
          </p:nvPr>
        </p:nvSpPr>
        <p:spPr>
          <a:xfrm>
            <a:off x="537601" y="520605"/>
            <a:ext cx="5661430" cy="593725"/>
          </a:xfrm>
        </p:spPr>
        <p:txBody>
          <a:bodyPr>
            <a:noAutofit/>
          </a:bodyPr>
          <a:lstStyle/>
          <a:p>
            <a:r>
              <a:rPr lang="en-US" sz="3200" dirty="0">
                <a:solidFill>
                  <a:schemeClr val="tx1"/>
                </a:solidFill>
                <a:latin typeface="Times New Roman" panose="02020603050405020304" pitchFamily="18" charset="0"/>
                <a:cs typeface="Times New Roman" panose="02020603050405020304" pitchFamily="18" charset="0"/>
              </a:rPr>
              <a:t>Aim and Objectives of the project</a:t>
            </a:r>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537601" y="1380731"/>
            <a:ext cx="9161389" cy="1015663"/>
          </a:xfrm>
          <a:prstGeom prst="rect">
            <a:avLst/>
          </a:prstGeom>
        </p:spPr>
        <p:txBody>
          <a:bodyPr wrap="square">
            <a:spAutoFit/>
          </a:bodyPr>
          <a:lstStyle/>
          <a:p>
            <a:r>
              <a:rPr lang="en-US" sz="2000" b="1" dirty="0" smtClean="0">
                <a:latin typeface="Times New Roman" panose="02020603050405020304" pitchFamily="18" charset="0"/>
                <a:cs typeface="Times New Roman" panose="02020603050405020304" pitchFamily="18" charset="0"/>
              </a:rPr>
              <a:t>Aim : </a:t>
            </a:r>
            <a:r>
              <a:rPr lang="en-US" sz="2000" dirty="0" smtClean="0">
                <a:latin typeface="Times New Roman" panose="02020603050405020304" pitchFamily="18" charset="0"/>
                <a:cs typeface="Times New Roman" panose="02020603050405020304" pitchFamily="18" charset="0"/>
              </a:rPr>
              <a:t>To </a:t>
            </a:r>
            <a:r>
              <a:rPr lang="en-US" sz="2000" dirty="0">
                <a:latin typeface="Times New Roman" panose="02020603050405020304" pitchFamily="18" charset="0"/>
                <a:cs typeface="Times New Roman" panose="02020603050405020304" pitchFamily="18" charset="0"/>
              </a:rPr>
              <a:t>transform constitutional education from a passive, text-based task into an engaging, interactive, and accessible experience that empowers citizens with functional knowledge of their rights and government.</a:t>
            </a:r>
            <a:endParaRPr lang="en-IN" sz="2000" dirty="0">
              <a:latin typeface="Times New Roman" panose="02020603050405020304" pitchFamily="18" charset="0"/>
              <a:cs typeface="Times New Roman" panose="02020603050405020304" pitchFamily="18" charset="0"/>
            </a:endParaRPr>
          </a:p>
        </p:txBody>
      </p:sp>
      <p:sp>
        <p:nvSpPr>
          <p:cNvPr id="8" name="Rectangle 7"/>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1" name="Rectangle 10"/>
          <p:cNvSpPr/>
          <p:nvPr/>
        </p:nvSpPr>
        <p:spPr>
          <a:xfrm>
            <a:off x="537601" y="2437114"/>
            <a:ext cx="10293531" cy="3323987"/>
          </a:xfrm>
          <a:prstGeom prst="rect">
            <a:avLst/>
          </a:prstGeom>
        </p:spPr>
        <p:txBody>
          <a:bodyPr wrap="square">
            <a:spAutoFit/>
          </a:bodyPr>
          <a:lstStyle/>
          <a:p>
            <a:pPr algn="just">
              <a:lnSpc>
                <a:spcPct val="150000"/>
              </a:lnSpc>
            </a:pPr>
            <a:r>
              <a:rPr lang="en-US" sz="2000" b="1" dirty="0" smtClean="0">
                <a:latin typeface="Times New Roman" panose="02020603050405020304" pitchFamily="18" charset="0"/>
                <a:cs typeface="Times New Roman" panose="02020603050405020304" pitchFamily="18" charset="0"/>
              </a:rPr>
              <a:t>Objectives :</a:t>
            </a:r>
          </a:p>
          <a:p>
            <a:pPr marL="285750" indent="-285750" algn="just">
              <a:lnSpc>
                <a:spcPct val="150000"/>
              </a:lnSpc>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Develop </a:t>
            </a:r>
            <a:r>
              <a:rPr lang="en-US" sz="2000" b="1" dirty="0">
                <a:latin typeface="Times New Roman" panose="02020603050405020304" pitchFamily="18" charset="0"/>
                <a:cs typeface="Times New Roman" panose="02020603050405020304" pitchFamily="18" charset="0"/>
              </a:rPr>
              <a:t>an Interactive </a:t>
            </a:r>
            <a:r>
              <a:rPr lang="en-US" sz="2000" b="1" dirty="0" smtClean="0">
                <a:latin typeface="Times New Roman" panose="02020603050405020304" pitchFamily="18" charset="0"/>
                <a:cs typeface="Times New Roman" panose="02020603050405020304" pitchFamily="18" charset="0"/>
              </a:rPr>
              <a:t>Gamified Platform:</a:t>
            </a:r>
            <a:endParaRPr lang="en-US" sz="2000" b="1" dirty="0">
              <a:latin typeface="Times New Roman" panose="02020603050405020304" pitchFamily="18" charset="0"/>
              <a:cs typeface="Times New Roman" panose="02020603050405020304" pitchFamily="18" charset="0"/>
            </a:endParaRPr>
          </a:p>
          <a:p>
            <a:pPr lvl="1" algn="just">
              <a:lnSpc>
                <a:spcPct val="150000"/>
              </a:lnSpc>
            </a:pPr>
            <a:r>
              <a:rPr lang="en-US" sz="2000" dirty="0">
                <a:latin typeface="Times New Roman" panose="02020603050405020304" pitchFamily="18" charset="0"/>
                <a:cs typeface="Times New Roman" panose="02020603050405020304" pitchFamily="18" charset="0"/>
              </a:rPr>
              <a:t>To build a user-friendly website featuring gamified modules, quizzes, and real-world scenarios that cover the </a:t>
            </a:r>
            <a:r>
              <a:rPr lang="en-US" sz="2000" dirty="0" smtClean="0">
                <a:latin typeface="Times New Roman" panose="02020603050405020304" pitchFamily="18" charset="0"/>
                <a:cs typeface="Times New Roman" panose="02020603050405020304" pitchFamily="18" charset="0"/>
              </a:rPr>
              <a:t>constitution's every aspect.</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Simplify Complex Information</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pPr lvl="1" algn="just">
              <a:lnSpc>
                <a:spcPct val="150000"/>
              </a:lnSpc>
            </a:pPr>
            <a:r>
              <a:rPr lang="en-US" sz="2000" dirty="0">
                <a:latin typeface="Times New Roman" panose="02020603050405020304" pitchFamily="18" charset="0"/>
                <a:cs typeface="Times New Roman" panose="02020603050405020304" pitchFamily="18" charset="0"/>
              </a:rPr>
              <a:t>To translate the dense, formal language of the constitution into simple, clear, and relatable content suitable for a broad audience, especially students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cxnSp>
        <p:nvCxnSpPr>
          <p:cNvPr id="15" name="Straight Connector 14"/>
          <p:cNvCxnSpPr/>
          <p:nvPr/>
        </p:nvCxnSpPr>
        <p:spPr>
          <a:xfrm>
            <a:off x="434570" y="1167004"/>
            <a:ext cx="92644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17761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9698990" y="79754"/>
            <a:ext cx="2493010" cy="1282065"/>
          </a:xfrm>
          <a:prstGeom prst="rect">
            <a:avLst/>
          </a:prstGeom>
        </p:spPr>
      </p:pic>
      <p:sp>
        <p:nvSpPr>
          <p:cNvPr id="8" name="Subtitle 2"/>
          <p:cNvSpPr txBox="1"/>
          <p:nvPr/>
        </p:nvSpPr>
        <p:spPr>
          <a:xfrm>
            <a:off x="627618" y="1463682"/>
            <a:ext cx="10435333" cy="4228780"/>
          </a:xfrm>
          <a:prstGeom prst="rect">
            <a:avLst/>
          </a:prstGeom>
        </p:spPr>
        <p:txBody>
          <a:bodyPr vert="horz" lIns="91440" tIns="45720" rIns="91440" bIns="45720" rtlCol="0">
            <a:noAutofit/>
          </a:bodyPr>
          <a:lstStyle/>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Boost Learner Engagement:</a:t>
            </a:r>
          </a:p>
          <a:p>
            <a:pPr lvl="1" algn="just">
              <a:lnSpc>
                <a:spcPct val="150000"/>
              </a:lnSpc>
            </a:pPr>
            <a:r>
              <a:rPr lang="en-US" sz="2000" dirty="0">
                <a:latin typeface="Times New Roman" panose="02020603050405020304" pitchFamily="18" charset="0"/>
                <a:cs typeface="Times New Roman" panose="02020603050405020304" pitchFamily="18" charset="0"/>
              </a:rPr>
              <a:t>To implement game mechanics like points, badges, and progress tracking to motivate users, encourage consistent participation, and make learning enjoyable.</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Foster Practical Understanding:</a:t>
            </a:r>
          </a:p>
          <a:p>
            <a:pPr lvl="1" algn="just">
              <a:lnSpc>
                <a:spcPct val="150000"/>
              </a:lnSpc>
            </a:pPr>
            <a:r>
              <a:rPr lang="en-US" sz="2000" dirty="0">
                <a:latin typeface="Times New Roman" panose="02020603050405020304" pitchFamily="18" charset="0"/>
                <a:cs typeface="Times New Roman" panose="02020603050405020304" pitchFamily="18" charset="0"/>
              </a:rPr>
              <a:t>To create content that connects constitutional concepts to everyday life, helping users understand not just what their rights are, but how they apply.</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Promote Civic Confidence:</a:t>
            </a:r>
          </a:p>
          <a:p>
            <a:pPr lvl="1" algn="just">
              <a:lnSpc>
                <a:spcPct val="150000"/>
              </a:lnSpc>
            </a:pPr>
            <a:r>
              <a:rPr lang="en-US" sz="2000" dirty="0">
                <a:latin typeface="Times New Roman" panose="02020603050405020304" pitchFamily="18" charset="0"/>
                <a:cs typeface="Times New Roman" panose="02020603050405020304" pitchFamily="18" charset="0"/>
              </a:rPr>
              <a:t>To equip users with the knowledge and confidence needed to become active and informed participants in </a:t>
            </a:r>
            <a:r>
              <a:rPr lang="en-US" sz="2000" dirty="0" smtClean="0">
                <a:latin typeface="Times New Roman" panose="02020603050405020304" pitchFamily="18" charset="0"/>
                <a:cs typeface="Times New Roman" panose="02020603050405020304" pitchFamily="18" charset="0"/>
              </a:rPr>
              <a:t>the society.</a:t>
            </a:r>
            <a:endParaRPr lang="en-IN" sz="2000"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pPr>
            <a:endParaRPr kumimoji="0" lang="en-US" sz="2000" b="0" i="0" u="none" strike="noStrike" kern="1200" cap="none" spc="0" normalizeH="0" baseline="0" noProof="0" dirty="0" smtClean="0">
              <a:ln>
                <a:noFill/>
              </a:ln>
              <a:effectLst/>
              <a:uLnTx/>
              <a:uFillTx/>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4FAB73BC-B049-4115-A692-8D63A059BFB8}" type="slidenum">
              <a:rPr lang="en-US" smtClean="0">
                <a:latin typeface="Times New Roman" panose="02020603050405020304" pitchFamily="18" charset="0"/>
                <a:cs typeface="Times New Roman" panose="02020603050405020304" pitchFamily="18" charset="0"/>
              </a:rPr>
              <a:pPr/>
              <a:t>7</a:t>
            </a:fld>
            <a:endParaRPr lang="en-US" dirty="0">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406400" y="1249791"/>
            <a:ext cx="92925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49261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4FAB73BC-B049-4115-A692-8D63A059BFB8}" type="slidenum">
              <a:rPr lang="en-US" smtClean="0"/>
              <a:t>8</a:t>
            </a:fld>
            <a:endParaRPr lang="en-US" dirty="0"/>
          </a:p>
        </p:txBody>
      </p:sp>
      <p:cxnSp>
        <p:nvCxnSpPr>
          <p:cNvPr id="13" name="Straight Connector 12"/>
          <p:cNvCxnSpPr/>
          <p:nvPr/>
        </p:nvCxnSpPr>
        <p:spPr>
          <a:xfrm>
            <a:off x="457200" y="1205848"/>
            <a:ext cx="92417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457200" y="679784"/>
            <a:ext cx="3098800" cy="52606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Literature</a:t>
            </a:r>
            <a:r>
              <a:rPr lang="en-US" sz="3200" dirty="0" smtClean="0">
                <a:solidFill>
                  <a:schemeClr val="tx1"/>
                </a:solidFill>
              </a:rPr>
              <a:t> </a:t>
            </a:r>
            <a:r>
              <a:rPr lang="en-US" sz="3200" dirty="0" smtClean="0">
                <a:solidFill>
                  <a:schemeClr val="tx1"/>
                </a:solidFill>
                <a:latin typeface="Times New Roman" panose="02020603050405020304" pitchFamily="18" charset="0"/>
                <a:cs typeface="Times New Roman" panose="02020603050405020304" pitchFamily="18" charset="0"/>
              </a:rPr>
              <a:t>Survey</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3" name="Rectangle 2"/>
          <p:cNvSpPr/>
          <p:nvPr/>
        </p:nvSpPr>
        <p:spPr>
          <a:xfrm>
            <a:off x="570046" y="1370207"/>
            <a:ext cx="11120185" cy="4401205"/>
          </a:xfrm>
          <a:prstGeom prst="rect">
            <a:avLst/>
          </a:prstGeom>
        </p:spPr>
        <p:txBody>
          <a:bodyPr wrap="square">
            <a:spAutoFit/>
          </a:bodyPr>
          <a:lstStyle/>
          <a:p>
            <a:r>
              <a:rPr lang="en-IN" sz="2000" b="1" dirty="0" smtClean="0">
                <a:latin typeface="Times New Roman" panose="02020603050405020304" pitchFamily="18" charset="0"/>
                <a:cs typeface="Times New Roman" panose="02020603050405020304" pitchFamily="18" charset="0"/>
              </a:rPr>
              <a:t>01 - Paper </a:t>
            </a:r>
            <a:r>
              <a:rPr lang="en-IN" sz="2000" b="1" dirty="0">
                <a:latin typeface="Times New Roman" panose="02020603050405020304" pitchFamily="18" charset="0"/>
                <a:cs typeface="Times New Roman" panose="02020603050405020304" pitchFamily="18" charset="0"/>
              </a:rPr>
              <a:t>Title: </a:t>
            </a:r>
            <a:r>
              <a:rPr lang="en-IN" sz="2000" dirty="0">
                <a:latin typeface="Times New Roman" panose="02020603050405020304" pitchFamily="18" charset="0"/>
                <a:cs typeface="Times New Roman" panose="02020603050405020304" pitchFamily="18" charset="0"/>
              </a:rPr>
              <a:t>Constitution Connect: A Digital Platform for Promoting Constitutional Literacy Using MERN Stack</a:t>
            </a:r>
          </a:p>
          <a:p>
            <a:r>
              <a:rPr lang="en-IN" sz="2000" b="1" dirty="0">
                <a:latin typeface="Times New Roman" panose="02020603050405020304" pitchFamily="18" charset="0"/>
                <a:cs typeface="Times New Roman" panose="02020603050405020304" pitchFamily="18" charset="0"/>
              </a:rPr>
              <a:t>Publication: </a:t>
            </a:r>
            <a:r>
              <a:rPr lang="en-IN" sz="2000" dirty="0">
                <a:latin typeface="Times New Roman" panose="02020603050405020304" pitchFamily="18" charset="0"/>
                <a:cs typeface="Times New Roman" panose="02020603050405020304" pitchFamily="18" charset="0"/>
              </a:rPr>
              <a:t>International Journal of Progressive Research in Engineering Management and Science (IJPREMS), </a:t>
            </a:r>
            <a:r>
              <a:rPr lang="en-IN" sz="2000" dirty="0" smtClean="0">
                <a:latin typeface="Times New Roman" panose="02020603050405020304" pitchFamily="18" charset="0"/>
                <a:cs typeface="Times New Roman" panose="02020603050405020304" pitchFamily="18" charset="0"/>
              </a:rPr>
              <a:t>2024</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Seed Idea (Core Idea</a:t>
            </a:r>
            <a:r>
              <a:rPr lang="en-IN" sz="2000" b="1" dirty="0" smtClean="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Builds a digital learning platform that simplifies constitutional concepts for the public</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Uses MERN stack to provide blogs, quizzes, and a chatbot to support constitutional learning</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Focused on making the Constitution easy to understand, reducing legal complexity. </a:t>
            </a:r>
            <a:endParaRPr lang="en-IN" sz="2000" dirty="0" smtClean="0">
              <a:latin typeface="Times New Roman" panose="02020603050405020304" pitchFamily="18" charset="0"/>
              <a:cs typeface="Times New Roman" panose="02020603050405020304" pitchFamily="18" charset="0"/>
            </a:endParaRPr>
          </a:p>
          <a:p>
            <a:endParaRPr lang="en-IN" sz="2000" dirty="0" smtClean="0">
              <a:latin typeface="Times New Roman" panose="02020603050405020304" pitchFamily="18" charset="0"/>
              <a:cs typeface="Times New Roman" panose="02020603050405020304" pitchFamily="18" charset="0"/>
            </a:endParaRPr>
          </a:p>
          <a:p>
            <a:r>
              <a:rPr lang="en-IN" sz="2000" b="1" dirty="0" smtClean="0">
                <a:latin typeface="Times New Roman" panose="02020603050405020304" pitchFamily="18" charset="0"/>
                <a:cs typeface="Times New Roman" panose="02020603050405020304" pitchFamily="18" charset="0"/>
              </a:rPr>
              <a:t>Drawbacks </a:t>
            </a:r>
            <a:r>
              <a:rPr lang="en-IN" sz="2000" b="1" dirty="0">
                <a:latin typeface="Times New Roman" panose="02020603050405020304" pitchFamily="18" charset="0"/>
                <a:cs typeface="Times New Roman" panose="02020603050405020304" pitchFamily="18" charset="0"/>
              </a:rPr>
              <a:t>(Improved by VIDHAN</a:t>
            </a:r>
            <a:r>
              <a:rPr lang="en-IN" sz="2000" b="1" dirty="0" smtClean="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Limited </a:t>
            </a:r>
            <a:r>
              <a:rPr lang="en-IN" sz="2000" dirty="0" smtClean="0">
                <a:latin typeface="Times New Roman" panose="02020603050405020304" pitchFamily="18" charset="0"/>
                <a:cs typeface="Times New Roman" panose="02020603050405020304" pitchFamily="18" charset="0"/>
              </a:rPr>
              <a:t>gamification basic </a:t>
            </a:r>
            <a:r>
              <a:rPr lang="en-IN" sz="2000" dirty="0">
                <a:latin typeface="Times New Roman" panose="02020603050405020304" pitchFamily="18" charset="0"/>
                <a:cs typeface="Times New Roman" panose="02020603050405020304" pitchFamily="18" charset="0"/>
              </a:rPr>
              <a:t>quizzes </a:t>
            </a:r>
            <a:r>
              <a:rPr lang="en-IN" sz="2000" dirty="0" smtClean="0">
                <a:latin typeface="Times New Roman" panose="02020603050405020304" pitchFamily="18" charset="0"/>
                <a:cs typeface="Times New Roman" panose="02020603050405020304" pitchFamily="18" charset="0"/>
              </a:rPr>
              <a:t>only: </a:t>
            </a:r>
            <a:r>
              <a:rPr lang="en-IN" sz="2000" dirty="0">
                <a:latin typeface="Times New Roman" panose="02020603050405020304" pitchFamily="18" charset="0"/>
                <a:cs typeface="Times New Roman" panose="02020603050405020304" pitchFamily="18" charset="0"/>
              </a:rPr>
              <a:t>VIDHAN adds full game-based progression, levels, rewards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Focuses mainly on </a:t>
            </a:r>
            <a:r>
              <a:rPr lang="en-IN" sz="2000" dirty="0" smtClean="0">
                <a:latin typeface="Times New Roman" panose="02020603050405020304" pitchFamily="18" charset="0"/>
                <a:cs typeface="Times New Roman" panose="02020603050405020304" pitchFamily="18" charset="0"/>
              </a:rPr>
              <a:t>literacy: </a:t>
            </a:r>
            <a:r>
              <a:rPr lang="en-IN" sz="2000" dirty="0">
                <a:latin typeface="Times New Roman" panose="02020603050405020304" pitchFamily="18" charset="0"/>
                <a:cs typeface="Times New Roman" panose="02020603050405020304" pitchFamily="18" charset="0"/>
              </a:rPr>
              <a:t>VIDHAN focuses on deep learning </a:t>
            </a:r>
            <a:r>
              <a:rPr lang="en-IN" sz="2000" dirty="0" smtClean="0">
                <a:latin typeface="Times New Roman" panose="02020603050405020304" pitchFamily="18" charset="0"/>
                <a:cs typeface="Times New Roman" panose="02020603050405020304" pitchFamily="18" charset="0"/>
              </a:rPr>
              <a:t>and interactive </a:t>
            </a:r>
            <a:r>
              <a:rPr lang="en-IN" sz="2000" dirty="0">
                <a:latin typeface="Times New Roman" panose="02020603050405020304" pitchFamily="18" charset="0"/>
                <a:cs typeface="Times New Roman" panose="02020603050405020304" pitchFamily="18" charset="0"/>
              </a:rPr>
              <a:t>explanation</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Chatbot answers basic </a:t>
            </a:r>
            <a:r>
              <a:rPr lang="en-IN" sz="2000" dirty="0" smtClean="0">
                <a:latin typeface="Times New Roman" panose="02020603050405020304" pitchFamily="18" charset="0"/>
                <a:cs typeface="Times New Roman" panose="02020603050405020304" pitchFamily="18" charset="0"/>
              </a:rPr>
              <a:t>queries: </a:t>
            </a:r>
            <a:r>
              <a:rPr lang="en-IN" sz="2000" dirty="0">
                <a:latin typeface="Times New Roman" panose="02020603050405020304" pitchFamily="18" charset="0"/>
                <a:cs typeface="Times New Roman" panose="02020603050405020304" pitchFamily="18" charset="0"/>
              </a:rPr>
              <a:t>VIDHAN uses </a:t>
            </a:r>
            <a:r>
              <a:rPr lang="en-IN" sz="2000" dirty="0" smtClean="0">
                <a:latin typeface="Times New Roman" panose="02020603050405020304" pitchFamily="18" charset="0"/>
                <a:cs typeface="Times New Roman" panose="02020603050405020304" pitchFamily="18" charset="0"/>
              </a:rPr>
              <a:t>AI-Chatbot assistance </a:t>
            </a:r>
            <a:r>
              <a:rPr lang="en-IN" sz="2000" dirty="0">
                <a:latin typeface="Times New Roman" panose="02020603050405020304" pitchFamily="18" charset="0"/>
                <a:cs typeface="Times New Roman" panose="02020603050405020304" pitchFamily="18" charset="0"/>
              </a:rPr>
              <a:t>for personalized learning</a:t>
            </a:r>
            <a:r>
              <a:rPr lang="en-IN" sz="2000"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50769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4FAB73BC-B049-4115-A692-8D63A059BFB8}" type="slidenum">
              <a:rPr lang="en-US" smtClean="0"/>
              <a:t>9</a:t>
            </a:fld>
            <a:endParaRPr lang="en-US" dirty="0"/>
          </a:p>
        </p:txBody>
      </p:sp>
      <p:cxnSp>
        <p:nvCxnSpPr>
          <p:cNvPr id="13" name="Straight Connector 12"/>
          <p:cNvCxnSpPr/>
          <p:nvPr/>
        </p:nvCxnSpPr>
        <p:spPr>
          <a:xfrm>
            <a:off x="457200" y="1201082"/>
            <a:ext cx="92417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457200" y="679784"/>
            <a:ext cx="3098800" cy="52606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Literature</a:t>
            </a:r>
            <a:r>
              <a:rPr lang="en-US" sz="3200" dirty="0" smtClean="0">
                <a:solidFill>
                  <a:schemeClr val="tx1"/>
                </a:solidFill>
              </a:rPr>
              <a:t> </a:t>
            </a:r>
            <a:r>
              <a:rPr lang="en-US" sz="3200" dirty="0" smtClean="0">
                <a:solidFill>
                  <a:schemeClr val="tx1"/>
                </a:solidFill>
                <a:latin typeface="Times New Roman" panose="02020603050405020304" pitchFamily="18" charset="0"/>
                <a:cs typeface="Times New Roman" panose="02020603050405020304" pitchFamily="18" charset="0"/>
              </a:rPr>
              <a:t>Survey</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531564" y="1222074"/>
            <a:ext cx="10876208" cy="4401205"/>
          </a:xfrm>
          <a:prstGeom prst="rect">
            <a:avLst/>
          </a:prstGeom>
        </p:spPr>
        <p:txBody>
          <a:bodyPr wrap="square">
            <a:spAutoFit/>
          </a:bodyPr>
          <a:lstStyle/>
          <a:p>
            <a:r>
              <a:rPr lang="en-IN" sz="2000" b="1" dirty="0" smtClean="0">
                <a:latin typeface="Times New Roman" panose="02020603050405020304" pitchFamily="18" charset="0"/>
                <a:cs typeface="Times New Roman" panose="02020603050405020304" pitchFamily="18" charset="0"/>
              </a:rPr>
              <a:t>02 - Paper </a:t>
            </a:r>
            <a:r>
              <a:rPr lang="en-IN" sz="2000" b="1" dirty="0">
                <a:latin typeface="Times New Roman" panose="02020603050405020304" pitchFamily="18" charset="0"/>
                <a:cs typeface="Times New Roman" panose="02020603050405020304" pitchFamily="18" charset="0"/>
              </a:rPr>
              <a:t>Title: </a:t>
            </a:r>
            <a:r>
              <a:rPr lang="en-IN" sz="2000" dirty="0" err="1">
                <a:latin typeface="Times New Roman" panose="02020603050405020304" pitchFamily="18" charset="0"/>
                <a:cs typeface="Times New Roman" panose="02020603050405020304" pitchFamily="18" charset="0"/>
              </a:rPr>
              <a:t>LawKey</a:t>
            </a:r>
            <a:r>
              <a:rPr lang="en-IN" sz="2000" dirty="0">
                <a:latin typeface="Times New Roman" panose="02020603050405020304" pitchFamily="18" charset="0"/>
                <a:cs typeface="Times New Roman" panose="02020603050405020304" pitchFamily="18" charset="0"/>
              </a:rPr>
              <a:t> — Law Constitution Chatbot</a:t>
            </a:r>
          </a:p>
          <a:p>
            <a:r>
              <a:rPr lang="en-IN" sz="2000" b="1" dirty="0">
                <a:latin typeface="Times New Roman" panose="02020603050405020304" pitchFamily="18" charset="0"/>
                <a:cs typeface="Times New Roman" panose="02020603050405020304" pitchFamily="18" charset="0"/>
              </a:rPr>
              <a:t>Publication: </a:t>
            </a:r>
            <a:r>
              <a:rPr lang="en-US" sz="2000" dirty="0">
                <a:latin typeface="Times New Roman" panose="02020603050405020304" pitchFamily="18" charset="0"/>
                <a:cs typeface="Times New Roman" panose="02020603050405020304" pitchFamily="18" charset="0"/>
              </a:rPr>
              <a:t>Institute of Electrical and Electronics Engineers</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SLAAI ICAI Conference, </a:t>
            </a:r>
            <a:r>
              <a:rPr lang="en-IN" sz="2000" dirty="0" smtClean="0">
                <a:latin typeface="Times New Roman" panose="02020603050405020304" pitchFamily="18" charset="0"/>
                <a:cs typeface="Times New Roman" panose="02020603050405020304" pitchFamily="18" charset="0"/>
              </a:rPr>
              <a:t>2024</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Seed Idea (Core Idea</a:t>
            </a:r>
            <a:r>
              <a:rPr lang="en-IN" sz="2000" b="1" dirty="0" smtClean="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A chatbot using NLP + Reinforcement Learning to give legal guidance to users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Extracts keywords from constitution texts and retrieves relevant laws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Uses models like Word2Vec, TF-IDF, Rasa, Q-Learning to generate accurate legal responses. </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How </a:t>
            </a:r>
            <a:r>
              <a:rPr lang="en-IN" sz="2000" b="1" dirty="0" err="1">
                <a:latin typeface="Times New Roman" panose="02020603050405020304" pitchFamily="18" charset="0"/>
                <a:cs typeface="Times New Roman" panose="02020603050405020304" pitchFamily="18" charset="0"/>
              </a:rPr>
              <a:t>Chatbots</a:t>
            </a:r>
            <a:r>
              <a:rPr lang="en-IN" sz="2000" b="1" dirty="0">
                <a:latin typeface="Times New Roman" panose="02020603050405020304" pitchFamily="18" charset="0"/>
                <a:cs typeface="Times New Roman" panose="02020603050405020304" pitchFamily="18" charset="0"/>
              </a:rPr>
              <a:t> Assist Learning</a:t>
            </a:r>
            <a:r>
              <a:rPr lang="en-IN" sz="2000" b="1" dirty="0" smtClean="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Understand user questions in natural language and provide simplified legal explanations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Reduce dependency on experts by giving instant, accessible legal information</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Reinforcement learning improves accuracy based on user feedback, making responses more relevant over time</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Helps users overcome complex legal language, improving clarity and understanding.</a:t>
            </a:r>
          </a:p>
        </p:txBody>
      </p:sp>
    </p:spTree>
    <p:extLst>
      <p:ext uri="{BB962C8B-B14F-4D97-AF65-F5344CB8AC3E}">
        <p14:creationId xmlns:p14="http://schemas.microsoft.com/office/powerpoint/2010/main" val="5551835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4FAB73BC-B049-4115-A692-8D63A059BFB8}" type="slidenum">
              <a:rPr lang="en-US" smtClean="0"/>
              <a:t>10</a:t>
            </a:fld>
            <a:endParaRPr lang="en-US" dirty="0"/>
          </a:p>
        </p:txBody>
      </p:sp>
      <p:cxnSp>
        <p:nvCxnSpPr>
          <p:cNvPr id="13" name="Straight Connector 12"/>
          <p:cNvCxnSpPr/>
          <p:nvPr/>
        </p:nvCxnSpPr>
        <p:spPr>
          <a:xfrm>
            <a:off x="457200" y="1201082"/>
            <a:ext cx="92417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457200" y="679784"/>
            <a:ext cx="3098800" cy="52606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Literature</a:t>
            </a:r>
            <a:r>
              <a:rPr lang="en-US" sz="3200" dirty="0" smtClean="0">
                <a:solidFill>
                  <a:schemeClr val="tx1"/>
                </a:solidFill>
              </a:rPr>
              <a:t> </a:t>
            </a:r>
            <a:r>
              <a:rPr lang="en-US" sz="3200" dirty="0" smtClean="0">
                <a:solidFill>
                  <a:schemeClr val="tx1"/>
                </a:solidFill>
                <a:latin typeface="Times New Roman" panose="02020603050405020304" pitchFamily="18" charset="0"/>
                <a:cs typeface="Times New Roman" panose="02020603050405020304" pitchFamily="18" charset="0"/>
              </a:rPr>
              <a:t>Survey</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457200" y="1320817"/>
            <a:ext cx="10567115" cy="4401205"/>
          </a:xfrm>
          <a:prstGeom prst="rect">
            <a:avLst/>
          </a:prstGeom>
        </p:spPr>
        <p:txBody>
          <a:bodyPr wrap="square">
            <a:spAutoFit/>
          </a:bodyPr>
          <a:lstStyle/>
          <a:p>
            <a:r>
              <a:rPr lang="en-US" sz="2000" b="1" dirty="0" smtClean="0">
                <a:latin typeface="Times New Roman" panose="02020603050405020304" pitchFamily="18" charset="0"/>
                <a:cs typeface="Times New Roman" panose="02020603050405020304" pitchFamily="18" charset="0"/>
              </a:rPr>
              <a:t>03 - Review </a:t>
            </a:r>
            <a:r>
              <a:rPr lang="en-US" sz="2000" b="1" dirty="0">
                <a:latin typeface="Times New Roman" panose="02020603050405020304" pitchFamily="18" charset="0"/>
                <a:cs typeface="Times New Roman" panose="02020603050405020304" pitchFamily="18" charset="0"/>
              </a:rPr>
              <a:t>Title: </a:t>
            </a:r>
            <a:r>
              <a:rPr lang="en-US" sz="2000" dirty="0">
                <a:latin typeface="Times New Roman" panose="02020603050405020304" pitchFamily="18" charset="0"/>
                <a:cs typeface="Times New Roman" panose="02020603050405020304" pitchFamily="18" charset="0"/>
              </a:rPr>
              <a:t>Gamification as an E-Learning Tool: A Literature Review</a:t>
            </a:r>
          </a:p>
          <a:p>
            <a:r>
              <a:rPr lang="en-US" sz="2000" b="1" dirty="0">
                <a:latin typeface="Times New Roman" panose="02020603050405020304" pitchFamily="18" charset="0"/>
                <a:cs typeface="Times New Roman" panose="02020603050405020304" pitchFamily="18" charset="0"/>
              </a:rPr>
              <a:t>Publication: </a:t>
            </a:r>
            <a:r>
              <a:rPr lang="en-US" sz="2000" dirty="0">
                <a:latin typeface="Times New Roman" panose="02020603050405020304" pitchFamily="18" charset="0"/>
                <a:cs typeface="Times New Roman" panose="02020603050405020304" pitchFamily="18" charset="0"/>
              </a:rPr>
              <a:t>E-Learning Innovations Journal, </a:t>
            </a:r>
            <a:r>
              <a:rPr lang="en-US" sz="2000" dirty="0" smtClean="0">
                <a:latin typeface="Times New Roman" panose="02020603050405020304" pitchFamily="18" charset="0"/>
                <a:cs typeface="Times New Roman" panose="02020603050405020304" pitchFamily="18" charset="0"/>
              </a:rPr>
              <a:t>2024</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Seed Idea (Core Idea</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Explores how gamification improves motivation, engagement, retention, and learning outcomes.</a:t>
            </a:r>
          </a:p>
          <a:p>
            <a:r>
              <a:rPr lang="en-US" sz="2000" dirty="0" smtClean="0">
                <a:latin typeface="Times New Roman" panose="02020603050405020304" pitchFamily="18" charset="0"/>
                <a:cs typeface="Times New Roman" panose="02020603050405020304" pitchFamily="18" charset="0"/>
              </a:rPr>
              <a:t>Reviews </a:t>
            </a:r>
            <a:r>
              <a:rPr lang="en-US" sz="2000" dirty="0">
                <a:latin typeface="Times New Roman" panose="02020603050405020304" pitchFamily="18" charset="0"/>
                <a:cs typeface="Times New Roman" panose="02020603050405020304" pitchFamily="18" charset="0"/>
              </a:rPr>
              <a:t>53 studies showing the effectiveness of game elements in education</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Highlights the role of UI/UX, rewards, challenges, and interactive tasks in enhancing digital learning. </a:t>
            </a:r>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Positive Impact on Learning</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Gamification makes education more interactive and enjoyable, improving focus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Enhances concept </a:t>
            </a:r>
            <a:r>
              <a:rPr lang="en-US" sz="2000" dirty="0" smtClean="0">
                <a:latin typeface="Times New Roman" panose="02020603050405020304" pitchFamily="18" charset="0"/>
                <a:cs typeface="Times New Roman" panose="02020603050405020304" pitchFamily="18" charset="0"/>
              </a:rPr>
              <a:t>understanding </a:t>
            </a:r>
            <a:r>
              <a:rPr lang="en-US" sz="2000" dirty="0">
                <a:latin typeface="Times New Roman" panose="02020603050405020304" pitchFamily="18" charset="0"/>
                <a:cs typeface="Times New Roman" panose="02020603050405020304" pitchFamily="18" charset="0"/>
              </a:rPr>
              <a:t>by converting abstract topics into game-like experiences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Encourages regular participation through points, levels, badges, leaderboards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Helps learners relate better to society and civic topics by using real-world game scenarios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Supports both self-directed learning and traditional learning environments.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029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4FAB73BC-B049-4115-A692-8D63A059BFB8}" type="slidenum">
              <a:rPr lang="en-US" smtClean="0"/>
              <a:t>11</a:t>
            </a:fld>
            <a:endParaRPr lang="en-US" dirty="0"/>
          </a:p>
        </p:txBody>
      </p:sp>
      <p:cxnSp>
        <p:nvCxnSpPr>
          <p:cNvPr id="13" name="Straight Connector 12"/>
          <p:cNvCxnSpPr/>
          <p:nvPr/>
        </p:nvCxnSpPr>
        <p:spPr>
          <a:xfrm>
            <a:off x="457200" y="1201082"/>
            <a:ext cx="92417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457200" y="679784"/>
            <a:ext cx="3098800" cy="52606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Literature</a:t>
            </a:r>
            <a:r>
              <a:rPr lang="en-US" sz="3200" dirty="0" smtClean="0">
                <a:solidFill>
                  <a:schemeClr val="tx1"/>
                </a:solidFill>
              </a:rPr>
              <a:t> </a:t>
            </a:r>
            <a:r>
              <a:rPr lang="en-US" sz="3200" dirty="0" smtClean="0">
                <a:solidFill>
                  <a:schemeClr val="tx1"/>
                </a:solidFill>
                <a:latin typeface="Times New Roman" panose="02020603050405020304" pitchFamily="18" charset="0"/>
                <a:cs typeface="Times New Roman" panose="02020603050405020304" pitchFamily="18" charset="0"/>
              </a:rPr>
              <a:t>Survey</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457200" y="1268926"/>
            <a:ext cx="11468637" cy="5016758"/>
          </a:xfrm>
          <a:prstGeom prst="rect">
            <a:avLst/>
          </a:prstGeom>
        </p:spPr>
        <p:txBody>
          <a:bodyPr wrap="square">
            <a:spAutoFit/>
          </a:bodyPr>
          <a:lstStyle/>
          <a:p>
            <a:r>
              <a:rPr lang="en-US" sz="2000" b="1" dirty="0" smtClean="0">
                <a:latin typeface="Times New Roman" panose="02020603050405020304" pitchFamily="18" charset="0"/>
                <a:cs typeface="Times New Roman" panose="02020603050405020304" pitchFamily="18" charset="0"/>
              </a:rPr>
              <a:t>04 - website </a:t>
            </a:r>
            <a:r>
              <a:rPr lang="en-US" sz="2000" b="1" dirty="0">
                <a:latin typeface="Times New Roman" panose="02020603050405020304" pitchFamily="18" charset="0"/>
                <a:cs typeface="Times New Roman" panose="02020603050405020304" pitchFamily="18" charset="0"/>
              </a:rPr>
              <a:t>Title: </a:t>
            </a:r>
            <a:r>
              <a:rPr lang="en-IN" sz="2000" dirty="0">
                <a:solidFill>
                  <a:schemeClr val="dk1"/>
                </a:solidFill>
                <a:latin typeface="Times New Roman" panose="02020603050405020304" pitchFamily="18" charset="0"/>
                <a:cs typeface="Times New Roman" panose="02020603050405020304" pitchFamily="18" charset="0"/>
              </a:rPr>
              <a:t>Centre for Law &amp; Policy Research’s platform: </a:t>
            </a:r>
            <a:r>
              <a:rPr lang="en-IN" sz="2000" dirty="0" smtClean="0">
                <a:solidFill>
                  <a:schemeClr val="dk1"/>
                </a:solidFill>
                <a:latin typeface="Times New Roman" panose="02020603050405020304" pitchFamily="18" charset="0"/>
                <a:cs typeface="Times New Roman" panose="02020603050405020304" pitchFamily="18" charset="0"/>
              </a:rPr>
              <a:t>ConstitutionofIndia.net</a:t>
            </a:r>
            <a:endParaRPr lang="en-US" sz="2000" dirty="0">
              <a:latin typeface="Times New Roman" panose="02020603050405020304" pitchFamily="18" charset="0"/>
              <a:cs typeface="Times New Roman" panose="02020603050405020304" pitchFamily="18" charset="0"/>
            </a:endParaRPr>
          </a:p>
          <a:p>
            <a:r>
              <a:rPr lang="en-US" sz="2000" b="1" dirty="0" smtClean="0">
                <a:latin typeface="Times New Roman" panose="02020603050405020304" pitchFamily="18" charset="0"/>
                <a:cs typeface="Times New Roman" panose="02020603050405020304" pitchFamily="18" charset="0"/>
              </a:rPr>
              <a:t>Platform: </a:t>
            </a:r>
            <a:r>
              <a:rPr lang="en-US" sz="2000" dirty="0" smtClean="0">
                <a:latin typeface="Times New Roman" panose="02020603050405020304" pitchFamily="18" charset="0"/>
                <a:cs typeface="Times New Roman" panose="02020603050405020304" pitchFamily="18" charset="0"/>
              </a:rPr>
              <a:t>Website on Internet</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Seed Idea (Core Idea</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r>
              <a:rPr lang="en-US" sz="2000" dirty="0">
                <a:solidFill>
                  <a:schemeClr val="dk1"/>
                </a:solidFill>
                <a:latin typeface="Times New Roman" panose="02020603050405020304" pitchFamily="18" charset="0"/>
                <a:cs typeface="Times New Roman" panose="02020603050405020304" pitchFamily="18" charset="0"/>
              </a:rPr>
              <a:t>ConstitutionofIndia.net is a digital platform created by the Centre for Law &amp; Policy Research (CLPR</a:t>
            </a:r>
            <a:r>
              <a:rPr lang="en-US" sz="2000" dirty="0" smtClean="0">
                <a:solidFill>
                  <a:schemeClr val="dk1"/>
                </a:solidFill>
                <a:latin typeface="Times New Roman" panose="02020603050405020304" pitchFamily="18" charset="0"/>
                <a:cs typeface="Times New Roman" panose="02020603050405020304" pitchFamily="18" charset="0"/>
              </a:rPr>
              <a:t>).</a:t>
            </a:r>
            <a:endParaRPr lang="en-US" sz="2000" dirty="0">
              <a:solidFill>
                <a:schemeClr val="dk1"/>
              </a:solidFill>
              <a:latin typeface="Times New Roman" panose="02020603050405020304" pitchFamily="18" charset="0"/>
              <a:cs typeface="Times New Roman" panose="02020603050405020304" pitchFamily="18" charset="0"/>
            </a:endParaRPr>
          </a:p>
          <a:p>
            <a:r>
              <a:rPr lang="en-US" sz="2000" dirty="0">
                <a:solidFill>
                  <a:schemeClr val="dk1"/>
                </a:solidFill>
                <a:latin typeface="Times New Roman" panose="02020603050405020304" pitchFamily="18" charset="0"/>
                <a:cs typeface="Times New Roman" panose="02020603050405020304" pitchFamily="18" charset="0"/>
              </a:rPr>
              <a:t>It provides a comprehensive, authoritative, and research-based understanding of the Indian Constitution</a:t>
            </a:r>
            <a:r>
              <a:rPr lang="en-US" sz="2000" dirty="0" smtClean="0">
                <a:solidFill>
                  <a:schemeClr val="dk1"/>
                </a:solidFill>
                <a:latin typeface="Times New Roman" panose="02020603050405020304" pitchFamily="18" charset="0"/>
                <a:cs typeface="Times New Roman" panose="02020603050405020304" pitchFamily="18" charset="0"/>
              </a:rPr>
              <a:t>.</a:t>
            </a:r>
            <a:endParaRPr lang="en-US" sz="2000" dirty="0">
              <a:solidFill>
                <a:schemeClr val="dk1"/>
              </a:solidFill>
              <a:latin typeface="Times New Roman" panose="02020603050405020304" pitchFamily="18" charset="0"/>
              <a:cs typeface="Times New Roman" panose="02020603050405020304" pitchFamily="18" charset="0"/>
            </a:endParaRPr>
          </a:p>
          <a:p>
            <a:r>
              <a:rPr lang="en-US" sz="2000" dirty="0">
                <a:solidFill>
                  <a:schemeClr val="dk1"/>
                </a:solidFill>
                <a:latin typeface="Times New Roman" panose="02020603050405020304" pitchFamily="18" charset="0"/>
                <a:cs typeface="Times New Roman" panose="02020603050405020304" pitchFamily="18" charset="0"/>
              </a:rPr>
              <a:t>Contains historical documents, debates, amendment histories, comparative constitutional insights, and articles</a:t>
            </a:r>
            <a:r>
              <a:rPr lang="en-US" sz="2000" dirty="0" smtClean="0">
                <a:solidFill>
                  <a:schemeClr val="dk1"/>
                </a:solidFill>
                <a:latin typeface="Times New Roman" panose="02020603050405020304" pitchFamily="18" charset="0"/>
                <a:cs typeface="Times New Roman" panose="02020603050405020304" pitchFamily="18" charset="0"/>
              </a:rPr>
              <a:t>.</a:t>
            </a:r>
            <a:endParaRPr lang="en-US" sz="2000" dirty="0">
              <a:solidFill>
                <a:schemeClr val="dk1"/>
              </a:solidFill>
              <a:latin typeface="Times New Roman" panose="02020603050405020304" pitchFamily="18" charset="0"/>
              <a:cs typeface="Times New Roman" panose="02020603050405020304" pitchFamily="18" charset="0"/>
            </a:endParaRPr>
          </a:p>
          <a:p>
            <a:r>
              <a:rPr lang="en-US" sz="2000" dirty="0">
                <a:solidFill>
                  <a:schemeClr val="dk1"/>
                </a:solidFill>
                <a:latin typeface="Times New Roman" panose="02020603050405020304" pitchFamily="18" charset="0"/>
                <a:cs typeface="Times New Roman" panose="02020603050405020304" pitchFamily="18" charset="0"/>
              </a:rPr>
              <a:t>Designed for scholars, students, educators, lawyers, and the general public</a:t>
            </a:r>
            <a:r>
              <a:rPr lang="en-US" sz="2000" dirty="0" smtClean="0">
                <a:solidFill>
                  <a:schemeClr val="dk1"/>
                </a:solidFill>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Scope of VIDHAN</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VIDHAN takes inspiration from the necessity of accessible constitutional </a:t>
            </a:r>
            <a:r>
              <a:rPr lang="en-US" sz="2000" dirty="0" smtClean="0">
                <a:latin typeface="Times New Roman" panose="02020603050405020304" pitchFamily="18" charset="0"/>
                <a:cs typeface="Times New Roman" panose="02020603050405020304" pitchFamily="18" charset="0"/>
              </a:rPr>
              <a:t>knowledge.</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Gamifies the learning experience with </a:t>
            </a:r>
            <a:r>
              <a:rPr lang="en-US" sz="2000" dirty="0" smtClean="0">
                <a:latin typeface="Times New Roman" panose="02020603050405020304" pitchFamily="18" charset="0"/>
                <a:cs typeface="Times New Roman" panose="02020603050405020304" pitchFamily="18" charset="0"/>
              </a:rPr>
              <a:t>quizzes, games, </a:t>
            </a:r>
            <a:r>
              <a:rPr lang="en-US" sz="2000" dirty="0">
                <a:latin typeface="Times New Roman" panose="02020603050405020304" pitchFamily="18" charset="0"/>
                <a:cs typeface="Times New Roman" panose="02020603050405020304" pitchFamily="18" charset="0"/>
              </a:rPr>
              <a:t>levels, tasks, and challenges to make learning engaging</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Adds </a:t>
            </a:r>
            <a:r>
              <a:rPr lang="en-US" sz="2000" dirty="0" smtClean="0">
                <a:latin typeface="Times New Roman" panose="02020603050405020304" pitchFamily="18" charset="0"/>
                <a:cs typeface="Times New Roman" panose="02020603050405020304" pitchFamily="18" charset="0"/>
              </a:rPr>
              <a:t>a Chabot assistant </a:t>
            </a:r>
            <a:r>
              <a:rPr lang="en-US" sz="2000" dirty="0">
                <a:latin typeface="Times New Roman" panose="02020603050405020304" pitchFamily="18" charset="0"/>
                <a:cs typeface="Times New Roman" panose="02020603050405020304" pitchFamily="18" charset="0"/>
              </a:rPr>
              <a:t>to </a:t>
            </a:r>
            <a:r>
              <a:rPr lang="en-US" sz="2000" dirty="0" smtClean="0">
                <a:latin typeface="Times New Roman" panose="02020603050405020304" pitchFamily="18" charset="0"/>
                <a:cs typeface="Times New Roman" panose="02020603050405020304" pitchFamily="18" charset="0"/>
              </a:rPr>
              <a:t>answer doubts and user queries </a:t>
            </a:r>
            <a:r>
              <a:rPr lang="en-US" sz="2000" dirty="0">
                <a:latin typeface="Times New Roman" panose="02020603050405020304" pitchFamily="18" charset="0"/>
                <a:cs typeface="Times New Roman" panose="02020603050405020304" pitchFamily="18" charset="0"/>
              </a:rPr>
              <a:t>and </a:t>
            </a:r>
            <a:r>
              <a:rPr lang="en-US" sz="2000" dirty="0" err="1">
                <a:latin typeface="Times New Roman" panose="02020603050405020304" pitchFamily="18" charset="0"/>
                <a:cs typeface="Times New Roman" panose="02020603050405020304" pitchFamily="18" charset="0"/>
              </a:rPr>
              <a:t>customise</a:t>
            </a:r>
            <a:r>
              <a:rPr lang="en-US" sz="2000" dirty="0">
                <a:latin typeface="Times New Roman" panose="02020603050405020304" pitchFamily="18" charset="0"/>
                <a:cs typeface="Times New Roman" panose="02020603050405020304" pitchFamily="18" charset="0"/>
              </a:rPr>
              <a:t> learning</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E</a:t>
            </a:r>
            <a:r>
              <a:rPr lang="en-IN" sz="2000" dirty="0" smtClean="0">
                <a:latin typeface="Times New Roman" panose="02020603050405020304" pitchFamily="18" charset="0"/>
                <a:cs typeface="Times New Roman" panose="02020603050405020304" pitchFamily="18" charset="0"/>
              </a:rPr>
              <a:t>ngages</a:t>
            </a:r>
            <a:r>
              <a:rPr lang="en-US" sz="2000" dirty="0" smtClean="0">
                <a:latin typeface="Times New Roman" panose="02020603050405020304" pitchFamily="18" charset="0"/>
                <a:cs typeface="Times New Roman" panose="02020603050405020304" pitchFamily="18" charset="0"/>
              </a:rPr>
              <a:t> public </a:t>
            </a:r>
            <a:r>
              <a:rPr lang="en-US" sz="2000" dirty="0">
                <a:latin typeface="Times New Roman" panose="02020603050405020304" pitchFamily="18" charset="0"/>
                <a:cs typeface="Times New Roman" panose="02020603050405020304" pitchFamily="18" charset="0"/>
              </a:rPr>
              <a:t>with a simplified and interactive learning journey</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Converts static constitutional information into an interactive, enjoyable, and </a:t>
            </a:r>
            <a:r>
              <a:rPr lang="en-US" sz="2000" dirty="0" err="1">
                <a:latin typeface="Times New Roman" panose="02020603050405020304" pitchFamily="18" charset="0"/>
                <a:cs typeface="Times New Roman" panose="02020603050405020304" pitchFamily="18" charset="0"/>
              </a:rPr>
              <a:t>personalised</a:t>
            </a:r>
            <a:r>
              <a:rPr lang="en-US" sz="2000" dirty="0">
                <a:latin typeface="Times New Roman" panose="02020603050405020304" pitchFamily="18" charset="0"/>
                <a:cs typeface="Times New Roman" panose="02020603050405020304" pitchFamily="18" charset="0"/>
              </a:rPr>
              <a:t> educational experience</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09612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12</a:t>
            </a:fld>
            <a:endParaRPr lang="en-US" dirty="0"/>
          </a:p>
        </p:txBody>
      </p:sp>
      <p:sp>
        <p:nvSpPr>
          <p:cNvPr id="8" name="Rectangle 7"/>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9" name="Title 1"/>
          <p:cNvSpPr txBox="1">
            <a:spLocks/>
          </p:cNvSpPr>
          <p:nvPr/>
        </p:nvSpPr>
        <p:spPr>
          <a:xfrm>
            <a:off x="584200" y="749317"/>
            <a:ext cx="3835400" cy="57150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Scope of the project</a:t>
            </a:r>
            <a:endParaRPr lang="en-US" sz="3200" dirty="0">
              <a:solidFill>
                <a:schemeClr val="tx1"/>
              </a:solidFill>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584200" y="1320817"/>
            <a:ext cx="91147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584200" y="1515236"/>
            <a:ext cx="6447665" cy="5016758"/>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Inclusion:</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Development of an interactive web platform for learning the Constitution of India.</a:t>
            </a:r>
          </a:p>
          <a:p>
            <a:pPr marL="342900"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Integration </a:t>
            </a:r>
            <a:r>
              <a:rPr lang="en-US" sz="2000" dirty="0">
                <a:latin typeface="Times New Roman" panose="02020603050405020304" pitchFamily="18" charset="0"/>
                <a:cs typeface="Times New Roman" panose="02020603050405020304" pitchFamily="18" charset="0"/>
              </a:rPr>
              <a:t>of educational games, quizzes, and visual content to enhance engagement.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User-friendly interface suitable for students and general public.</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Accessibility on both desktop and mobile devices for wider reach</a:t>
            </a:r>
            <a:r>
              <a:rPr lang="en-US" sz="20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Detailed coverage of </a:t>
            </a:r>
            <a:r>
              <a:rPr lang="en-US" sz="2000" dirty="0" smtClean="0">
                <a:latin typeface="Times New Roman" panose="02020603050405020304" pitchFamily="18" charset="0"/>
                <a:cs typeface="Times New Roman" panose="02020603050405020304" pitchFamily="18" charset="0"/>
              </a:rPr>
              <a:t>the Constitution of India.</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Multilingual translation </a:t>
            </a:r>
            <a:r>
              <a:rPr lang="en-US" sz="2000" dirty="0" smtClean="0">
                <a:latin typeface="Times New Roman" panose="02020603050405020304" pitchFamily="18" charset="0"/>
                <a:cs typeface="Times New Roman" panose="02020603050405020304" pitchFamily="18" charset="0"/>
              </a:rPr>
              <a:t>features.</a:t>
            </a:r>
          </a:p>
          <a:p>
            <a:pPr marL="342900" indent="-34290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AI-Assistance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Modules covering key topics such as Preamble, Fundamental Rights, Duties, and Directive Principles.</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13" name="Rectangle 12"/>
          <p:cNvSpPr/>
          <p:nvPr/>
        </p:nvSpPr>
        <p:spPr>
          <a:xfrm>
            <a:off x="7266940" y="1515236"/>
            <a:ext cx="4864100" cy="2862322"/>
          </a:xfrm>
          <a:prstGeom prst="rect">
            <a:avLst/>
          </a:prstGeom>
        </p:spPr>
        <p:txBody>
          <a:bodyPr wrap="square">
            <a:spAutoFit/>
          </a:bodyPr>
          <a:lstStyle/>
          <a:p>
            <a:pPr>
              <a:lnSpc>
                <a:spcPct val="150000"/>
              </a:lnSpc>
            </a:pPr>
            <a:r>
              <a:rPr lang="en-US" sz="2000" b="1" dirty="0">
                <a:latin typeface="Times New Roman" panose="02020603050405020304" pitchFamily="18" charset="0"/>
                <a:cs typeface="Times New Roman" panose="02020603050405020304" pitchFamily="18" charset="0"/>
              </a:rPr>
              <a:t>Exclusion:</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Detailed coverage of advanced legal or judicial interpretations of the Constitution.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Offline learning or mobile app version (web-based only).</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discussion </a:t>
            </a:r>
            <a:r>
              <a:rPr lang="en-US" sz="2000" dirty="0" smtClean="0">
                <a:latin typeface="Times New Roman" panose="02020603050405020304" pitchFamily="18" charset="0"/>
                <a:cs typeface="Times New Roman" panose="02020603050405020304" pitchFamily="18" charset="0"/>
              </a:rPr>
              <a:t>forums.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00198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2" name="Slide Number Placeholder 1"/>
          <p:cNvSpPr>
            <a:spLocks noGrp="1"/>
          </p:cNvSpPr>
          <p:nvPr>
            <p:ph type="sldNum" sz="quarter" idx="12"/>
          </p:nvPr>
        </p:nvSpPr>
        <p:spPr/>
        <p:txBody>
          <a:bodyPr/>
          <a:lstStyle/>
          <a:p>
            <a:fld id="{4FAB73BC-B049-4115-A692-8D63A059BFB8}" type="slidenum">
              <a:rPr lang="en-US" smtClean="0"/>
              <a:pPr/>
              <a:t>13</a:t>
            </a:fld>
            <a:endParaRPr lang="en-US"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0" name="Title 1"/>
          <p:cNvSpPr txBox="1">
            <a:spLocks/>
          </p:cNvSpPr>
          <p:nvPr/>
        </p:nvSpPr>
        <p:spPr>
          <a:xfrm>
            <a:off x="444500" y="679784"/>
            <a:ext cx="5803900" cy="436562"/>
          </a:xfrm>
          <a:prstGeom prst="rect">
            <a:avLst/>
          </a:prstGeom>
        </p:spPr>
        <p:txBody>
          <a:bodyPr>
            <a:normAutofit fontScale="900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Software Requirement Specification </a:t>
            </a:r>
            <a:endParaRPr lang="en-US" sz="3200" dirty="0">
              <a:solidFill>
                <a:schemeClr val="tx1"/>
              </a:solidFill>
              <a:latin typeface="Times New Roman" panose="02020603050405020304" pitchFamily="18" charset="0"/>
              <a:cs typeface="Times New Roman" panose="02020603050405020304" pitchFamily="18" charset="0"/>
            </a:endParaRPr>
          </a:p>
        </p:txBody>
      </p:sp>
      <p:cxnSp>
        <p:nvCxnSpPr>
          <p:cNvPr id="12" name="Straight Connector 11"/>
          <p:cNvCxnSpPr/>
          <p:nvPr/>
        </p:nvCxnSpPr>
        <p:spPr>
          <a:xfrm>
            <a:off x="444500" y="1217963"/>
            <a:ext cx="92544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44500" y="1411829"/>
            <a:ext cx="5562600" cy="4555093"/>
          </a:xfrm>
          <a:prstGeom prst="rect">
            <a:avLst/>
          </a:prstGeom>
        </p:spPr>
        <p:txBody>
          <a:bodyPr wrap="square">
            <a:spAutoFit/>
          </a:bodyPr>
          <a:lstStyle/>
          <a:p>
            <a:pPr>
              <a:spcBef>
                <a:spcPts val="600"/>
              </a:spcBef>
              <a:spcAft>
                <a:spcPts val="600"/>
              </a:spcAft>
            </a:pPr>
            <a:r>
              <a:rPr lang="en-US" sz="2000" b="1" dirty="0" smtClean="0">
                <a:latin typeface="Times New Roman" panose="02020603050405020304" pitchFamily="18" charset="0"/>
                <a:cs typeface="Times New Roman" panose="02020603050405020304" pitchFamily="18" charset="0"/>
              </a:rPr>
              <a:t>Functional Requirements:</a:t>
            </a:r>
            <a:endParaRPr lang="en-US" sz="2000" dirty="0" smtClean="0">
              <a:latin typeface="Times New Roman" panose="02020603050405020304" pitchFamily="18" charset="0"/>
              <a:cs typeface="Times New Roman" panose="02020603050405020304" pitchFamily="18" charset="0"/>
            </a:endParaRPr>
          </a:p>
          <a:p>
            <a:pPr marL="342900" indent="-342900">
              <a:spcBef>
                <a:spcPts val="600"/>
              </a:spcBef>
              <a:spcAft>
                <a:spcPts val="600"/>
              </a:spcAf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User Management:</a:t>
            </a:r>
            <a:r>
              <a:rPr lang="en-US" sz="2000" dirty="0" smtClean="0">
                <a:latin typeface="Times New Roman" panose="02020603050405020304" pitchFamily="18" charset="0"/>
                <a:cs typeface="Times New Roman" panose="02020603050405020304" pitchFamily="18" charset="0"/>
              </a:rPr>
              <a:t> Users must be able to register, log in, and manage their profiles.</a:t>
            </a:r>
          </a:p>
          <a:p>
            <a:pPr marL="342900" indent="-342900">
              <a:spcBef>
                <a:spcPts val="600"/>
              </a:spcBef>
              <a:spcAft>
                <a:spcPts val="600"/>
              </a:spcAf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Gamified Modules:</a:t>
            </a:r>
            <a:r>
              <a:rPr lang="en-US" sz="2000" dirty="0" smtClean="0">
                <a:latin typeface="Times New Roman" panose="02020603050405020304" pitchFamily="18" charset="0"/>
                <a:cs typeface="Times New Roman" panose="02020603050405020304" pitchFamily="18" charset="0"/>
              </a:rPr>
              <a:t> The system will provide various interactive modules like quizzes, puzzles, and scenarios.</a:t>
            </a:r>
          </a:p>
          <a:p>
            <a:pPr marL="342900" indent="-342900">
              <a:spcBef>
                <a:spcPts val="600"/>
              </a:spcBef>
              <a:spcAft>
                <a:spcPts val="600"/>
              </a:spcAf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Progress Tracking:</a:t>
            </a:r>
            <a:r>
              <a:rPr lang="en-US" sz="2000" dirty="0" smtClean="0">
                <a:latin typeface="Times New Roman" panose="02020603050405020304" pitchFamily="18" charset="0"/>
                <a:cs typeface="Times New Roman" panose="02020603050405020304" pitchFamily="18" charset="0"/>
              </a:rPr>
              <a:t> The platform must track and display user progress, scores, and achievements.</a:t>
            </a:r>
          </a:p>
          <a:p>
            <a:pPr marL="342900" indent="-342900">
              <a:spcBef>
                <a:spcPts val="600"/>
              </a:spcBef>
              <a:spcAft>
                <a:spcPts val="600"/>
              </a:spcAf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Leaderboard:</a:t>
            </a:r>
            <a:r>
              <a:rPr lang="en-US" sz="2000" dirty="0" smtClean="0">
                <a:latin typeface="Times New Roman" panose="02020603050405020304" pitchFamily="18" charset="0"/>
                <a:cs typeface="Times New Roman" panose="02020603050405020304" pitchFamily="18" charset="0"/>
              </a:rPr>
              <a:t> A system to rank users based on their scores and display the rankings.</a:t>
            </a:r>
          </a:p>
          <a:p>
            <a:pPr marL="342900" indent="-342900">
              <a:spcBef>
                <a:spcPts val="600"/>
              </a:spcBef>
              <a:spcAft>
                <a:spcPts val="600"/>
              </a:spcAft>
              <a:buFont typeface="Arial" panose="020B0604020202020204" pitchFamily="34" charset="0"/>
              <a:buChar char="•"/>
            </a:pPr>
            <a:r>
              <a:rPr lang="en-US" sz="2000" b="1" dirty="0" smtClean="0">
                <a:latin typeface="Times New Roman" panose="02020603050405020304" pitchFamily="18" charset="0"/>
                <a:cs typeface="Times New Roman" panose="02020603050405020304" pitchFamily="18" charset="0"/>
              </a:rPr>
              <a:t>Content Management:</a:t>
            </a:r>
            <a:r>
              <a:rPr lang="en-US" sz="2000" dirty="0" smtClean="0">
                <a:latin typeface="Times New Roman" panose="02020603050405020304" pitchFamily="18" charset="0"/>
                <a:cs typeface="Times New Roman" panose="02020603050405020304" pitchFamily="18" charset="0"/>
              </a:rPr>
              <a:t> An admin interface to add, update, and manage educational content.</a:t>
            </a:r>
            <a:endParaRPr lang="en-US" sz="2000" dirty="0">
              <a:latin typeface="Times New Roman" panose="02020603050405020304" pitchFamily="18" charset="0"/>
              <a:cs typeface="Times New Roman" panose="02020603050405020304" pitchFamily="18" charset="0"/>
            </a:endParaRPr>
          </a:p>
        </p:txBody>
      </p:sp>
      <p:sp>
        <p:nvSpPr>
          <p:cNvPr id="14" name="Rectangle 13"/>
          <p:cNvSpPr/>
          <p:nvPr/>
        </p:nvSpPr>
        <p:spPr>
          <a:xfrm>
            <a:off x="6362164" y="1397235"/>
            <a:ext cx="5693535" cy="4862870"/>
          </a:xfrm>
          <a:prstGeom prst="rect">
            <a:avLst/>
          </a:prstGeom>
        </p:spPr>
        <p:txBody>
          <a:bodyPr wrap="square">
            <a:spAutoFit/>
          </a:bodyPr>
          <a:lstStyle/>
          <a:p>
            <a:pPr>
              <a:spcBef>
                <a:spcPts val="600"/>
              </a:spcBef>
              <a:spcAft>
                <a:spcPts val="600"/>
              </a:spcAft>
            </a:pPr>
            <a:r>
              <a:rPr lang="en-US" sz="2000" b="1" dirty="0">
                <a:latin typeface="Times New Roman" panose="02020603050405020304" pitchFamily="18" charset="0"/>
                <a:cs typeface="Times New Roman" panose="02020603050405020304" pitchFamily="18" charset="0"/>
              </a:rPr>
              <a:t>Non-Functional Requirements:</a:t>
            </a:r>
            <a:endParaRPr lang="en-US" sz="2000" dirty="0">
              <a:latin typeface="Times New Roman" panose="02020603050405020304" pitchFamily="18" charset="0"/>
              <a:cs typeface="Times New Roman" panose="02020603050405020304" pitchFamily="18" charset="0"/>
            </a:endParaRPr>
          </a:p>
          <a:p>
            <a:pPr marL="342900" indent="-342900">
              <a:spcBef>
                <a:spcPts val="600"/>
              </a:spcBef>
              <a:spcAft>
                <a:spcPts val="600"/>
              </a:spcAf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Performance:</a:t>
            </a:r>
            <a:r>
              <a:rPr lang="en-US" sz="2000" dirty="0">
                <a:latin typeface="Times New Roman" panose="02020603050405020304" pitchFamily="18" charset="0"/>
                <a:cs typeface="Times New Roman" panose="02020603050405020304" pitchFamily="18" charset="0"/>
              </a:rPr>
              <a:t> Web pages and games should load within 3 seconds.</a:t>
            </a:r>
          </a:p>
          <a:p>
            <a:pPr marL="342900" indent="-342900">
              <a:spcBef>
                <a:spcPts val="600"/>
              </a:spcBef>
              <a:spcAft>
                <a:spcPts val="600"/>
              </a:spcAf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Usability:</a:t>
            </a:r>
            <a:r>
              <a:rPr lang="en-US" sz="2000" dirty="0">
                <a:latin typeface="Times New Roman" panose="02020603050405020304" pitchFamily="18" charset="0"/>
                <a:cs typeface="Times New Roman" panose="02020603050405020304" pitchFamily="18" charset="0"/>
              </a:rPr>
              <a:t> The interface must be intuitive, responsive, and accessible across major browsers and devices.</a:t>
            </a:r>
          </a:p>
          <a:p>
            <a:pPr marL="342900" indent="-342900">
              <a:spcBef>
                <a:spcPts val="600"/>
              </a:spcBef>
              <a:spcAft>
                <a:spcPts val="600"/>
              </a:spcAf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Scalability:</a:t>
            </a:r>
            <a:r>
              <a:rPr lang="en-US" sz="2000" dirty="0">
                <a:latin typeface="Times New Roman" panose="02020603050405020304" pitchFamily="18" charset="0"/>
                <a:cs typeface="Times New Roman" panose="02020603050405020304" pitchFamily="18" charset="0"/>
              </a:rPr>
              <a:t> The architecture must support a minimum of 1,000 concurrent users.</a:t>
            </a:r>
          </a:p>
          <a:p>
            <a:pPr marL="342900" indent="-342900">
              <a:spcBef>
                <a:spcPts val="600"/>
              </a:spcBef>
              <a:spcAft>
                <a:spcPts val="600"/>
              </a:spcAf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Security:</a:t>
            </a:r>
            <a:r>
              <a:rPr lang="en-US" sz="2000" dirty="0">
                <a:latin typeface="Times New Roman" panose="02020603050405020304" pitchFamily="18" charset="0"/>
                <a:cs typeface="Times New Roman" panose="02020603050405020304" pitchFamily="18" charset="0"/>
              </a:rPr>
              <a:t> All user data, especially personal information and passwords, must be encrypted and stored securely.</a:t>
            </a:r>
          </a:p>
          <a:p>
            <a:pPr marL="342900" indent="-342900">
              <a:spcBef>
                <a:spcPts val="600"/>
              </a:spcBef>
              <a:spcAft>
                <a:spcPts val="600"/>
              </a:spcAf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Reliability:</a:t>
            </a:r>
            <a:r>
              <a:rPr lang="en-US" sz="2000" dirty="0">
                <a:latin typeface="Times New Roman" panose="02020603050405020304" pitchFamily="18" charset="0"/>
                <a:cs typeface="Times New Roman" panose="02020603050405020304" pitchFamily="18" charset="0"/>
              </a:rPr>
              <a:t> The system should have an uptime of 99.9%.</a:t>
            </a:r>
          </a:p>
        </p:txBody>
      </p:sp>
    </p:spTree>
    <p:extLst>
      <p:ext uri="{BB962C8B-B14F-4D97-AF65-F5344CB8AC3E}">
        <p14:creationId xmlns:p14="http://schemas.microsoft.com/office/powerpoint/2010/main" val="16077490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9" name="Rectangle 8"/>
          <p:cNvSpPr/>
          <p:nvPr/>
        </p:nvSpPr>
        <p:spPr>
          <a:xfrm>
            <a:off x="3818690" y="64666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14</a:t>
            </a:fld>
            <a:endParaRPr lang="en-US" dirty="0"/>
          </a:p>
        </p:txBody>
      </p:sp>
      <p:sp>
        <p:nvSpPr>
          <p:cNvPr id="11" name="Rectangle 10"/>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2" name="Rectangle 11"/>
          <p:cNvSpPr/>
          <p:nvPr/>
        </p:nvSpPr>
        <p:spPr>
          <a:xfrm>
            <a:off x="489435" y="1424218"/>
            <a:ext cx="5720865" cy="5016758"/>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Hardware Requirements:</a:t>
            </a:r>
            <a:endParaRPr lang="en-US"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Server:</a:t>
            </a:r>
            <a:endParaRPr lang="en-US" sz="20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CPU: 2-core Processor</a:t>
            </a:r>
          </a:p>
          <a:p>
            <a:pPr marL="1200150" lvl="2"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RAM: 4 GB</a:t>
            </a:r>
          </a:p>
          <a:p>
            <a:pPr marL="1200150" lvl="2"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Storage: 50 GB </a:t>
            </a:r>
            <a:r>
              <a:rPr lang="en-US" sz="2000" dirty="0" smtClean="0">
                <a:latin typeface="Times New Roman" panose="02020603050405020304" pitchFamily="18" charset="0"/>
                <a:cs typeface="Times New Roman" panose="02020603050405020304" pitchFamily="18" charset="0"/>
              </a:rPr>
              <a:t>SSD</a:t>
            </a:r>
            <a:endParaRPr lang="en-US"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Client:</a:t>
            </a:r>
            <a:endParaRPr lang="en-US" sz="2000" dirty="0">
              <a:latin typeface="Times New Roman" panose="02020603050405020304" pitchFamily="18" charset="0"/>
              <a:cs typeface="Times New Roman" panose="02020603050405020304" pitchFamily="18" charset="0"/>
            </a:endParaRPr>
          </a:p>
          <a:p>
            <a:pPr marL="1257300" lvl="2"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desktop, laptop, tablet, or smartphone with at least 2GB RAM and internet access</a:t>
            </a:r>
            <a:r>
              <a:rPr lang="en-US" sz="2000" dirty="0" smtClean="0">
                <a:latin typeface="Times New Roman" panose="02020603050405020304" pitchFamily="18" charset="0"/>
                <a:cs typeface="Times New Roman" panose="02020603050405020304" pitchFamily="18" charset="0"/>
              </a:rPr>
              <a:t>.</a:t>
            </a:r>
          </a:p>
          <a:p>
            <a:pPr marL="1257300" lvl="2" indent="-342900">
              <a:buFont typeface="Arial" panose="020B0604020202020204" pitchFamily="34" charset="0"/>
              <a:buChar char="•"/>
            </a:pPr>
            <a:endParaRPr lang="en-US" sz="9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Hardware Availability:</a:t>
            </a:r>
            <a:r>
              <a:rPr lang="en-US" sz="2000" dirty="0">
                <a:latin typeface="Times New Roman" panose="02020603050405020304" pitchFamily="18" charset="0"/>
                <a:cs typeface="Times New Roman" panose="02020603050405020304" pitchFamily="18" charset="0"/>
              </a:rPr>
              <a:t> </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required hardware for both server and client is readily available and consists of standard consumer and enterprise-grade components. No specialized hardware is needed.</a:t>
            </a:r>
          </a:p>
        </p:txBody>
      </p:sp>
      <p:sp>
        <p:nvSpPr>
          <p:cNvPr id="13" name="Rectangle 12"/>
          <p:cNvSpPr/>
          <p:nvPr/>
        </p:nvSpPr>
        <p:spPr>
          <a:xfrm>
            <a:off x="6509673" y="1424218"/>
            <a:ext cx="4702810" cy="3170099"/>
          </a:xfrm>
          <a:prstGeom prst="rect">
            <a:avLst/>
          </a:prstGeom>
        </p:spPr>
        <p:txBody>
          <a:bodyPr wrap="square">
            <a:spAutoFit/>
          </a:bodyPr>
          <a:lstStyle/>
          <a:p>
            <a:r>
              <a:rPr lang="en-IN" sz="2000" b="1" dirty="0">
                <a:latin typeface="Times New Roman" panose="02020603050405020304" pitchFamily="18" charset="0"/>
                <a:cs typeface="Times New Roman" panose="02020603050405020304" pitchFamily="18" charset="0"/>
              </a:rPr>
              <a:t>Software Requirements:</a:t>
            </a:r>
            <a:endParaRPr lang="en-IN"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Server:</a:t>
            </a:r>
            <a:endParaRPr lang="en-IN" sz="20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Operating System: </a:t>
            </a:r>
            <a:r>
              <a:rPr lang="en-IN" sz="2000" dirty="0" smtClean="0">
                <a:latin typeface="Times New Roman" panose="02020603050405020304" pitchFamily="18" charset="0"/>
                <a:cs typeface="Times New Roman" panose="02020603050405020304" pitchFamily="18" charset="0"/>
              </a:rPr>
              <a:t>Windows, Linux </a:t>
            </a:r>
            <a:r>
              <a:rPr lang="en-IN" sz="2000" dirty="0">
                <a:latin typeface="Times New Roman" panose="02020603050405020304" pitchFamily="18" charset="0"/>
                <a:cs typeface="Times New Roman" panose="02020603050405020304" pitchFamily="18" charset="0"/>
              </a:rPr>
              <a:t>(e.g., Ubuntu 20.04+)</a:t>
            </a:r>
          </a:p>
          <a:p>
            <a:pPr marL="12001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Web </a:t>
            </a:r>
            <a:r>
              <a:rPr lang="en-IN" sz="2000" dirty="0" smtClean="0">
                <a:latin typeface="Times New Roman" panose="02020603050405020304" pitchFamily="18" charset="0"/>
                <a:cs typeface="Times New Roman" panose="02020603050405020304" pitchFamily="18" charset="0"/>
              </a:rPr>
              <a:t>Server: Apache Tomcat</a:t>
            </a:r>
            <a:endParaRPr lang="en-IN" sz="20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Database: </a:t>
            </a:r>
            <a:r>
              <a:rPr lang="en-IN" sz="2000" dirty="0" smtClean="0">
                <a:latin typeface="Times New Roman" panose="02020603050405020304" pitchFamily="18" charset="0"/>
                <a:cs typeface="Times New Roman" panose="02020603050405020304" pitchFamily="18" charset="0"/>
              </a:rPr>
              <a:t>MySQL</a:t>
            </a:r>
            <a:endParaRPr lang="en-IN" sz="20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IN" sz="2000" b="1" dirty="0" smtClean="0">
                <a:latin typeface="Times New Roman" panose="02020603050405020304" pitchFamily="18" charset="0"/>
                <a:cs typeface="Times New Roman" panose="02020603050405020304" pitchFamily="18" charset="0"/>
              </a:rPr>
              <a:t>Client</a:t>
            </a:r>
            <a:r>
              <a:rPr lang="en-IN" sz="2000" b="1"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1200150" lvl="2"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 modern web browser (latest versions of Chrome, Firefox, Safari, or Edge).</a:t>
            </a:r>
          </a:p>
        </p:txBody>
      </p:sp>
      <p:sp>
        <p:nvSpPr>
          <p:cNvPr id="14" name="Title 1"/>
          <p:cNvSpPr txBox="1">
            <a:spLocks/>
          </p:cNvSpPr>
          <p:nvPr/>
        </p:nvSpPr>
        <p:spPr>
          <a:xfrm>
            <a:off x="406400" y="687204"/>
            <a:ext cx="5803900" cy="436562"/>
          </a:xfrm>
          <a:prstGeom prst="rect">
            <a:avLst/>
          </a:prstGeom>
        </p:spPr>
        <p:txBody>
          <a:bodyPr>
            <a:normAutofit fontScale="900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Software Requirement Specification </a:t>
            </a:r>
            <a:endParaRPr lang="en-US" sz="3200" dirty="0">
              <a:solidFill>
                <a:schemeClr val="tx1"/>
              </a:solidFill>
              <a:latin typeface="Times New Roman" panose="02020603050405020304" pitchFamily="18" charset="0"/>
              <a:cs typeface="Times New Roman" panose="02020603050405020304" pitchFamily="18" charset="0"/>
            </a:endParaRPr>
          </a:p>
        </p:txBody>
      </p:sp>
      <p:cxnSp>
        <p:nvCxnSpPr>
          <p:cNvPr id="16" name="Straight Connector 15"/>
          <p:cNvCxnSpPr/>
          <p:nvPr/>
        </p:nvCxnSpPr>
        <p:spPr>
          <a:xfrm>
            <a:off x="489435" y="1155193"/>
            <a:ext cx="920955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9182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15</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cxnSp>
        <p:nvCxnSpPr>
          <p:cNvPr id="4" name="Straight Connector 3"/>
          <p:cNvCxnSpPr/>
          <p:nvPr/>
        </p:nvCxnSpPr>
        <p:spPr>
          <a:xfrm>
            <a:off x="533400" y="961801"/>
            <a:ext cx="90344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8" name="Title 1"/>
          <p:cNvSpPr txBox="1">
            <a:spLocks/>
          </p:cNvSpPr>
          <p:nvPr/>
        </p:nvSpPr>
        <p:spPr>
          <a:xfrm>
            <a:off x="507426" y="1088964"/>
            <a:ext cx="2699413"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2400" dirty="0" smtClean="0">
                <a:solidFill>
                  <a:schemeClr val="tx1"/>
                </a:solidFill>
                <a:latin typeface="Times New Roman" panose="02020603050405020304" pitchFamily="18" charset="0"/>
                <a:cs typeface="Times New Roman" panose="02020603050405020304" pitchFamily="18" charset="0"/>
              </a:rPr>
              <a:t>System Architecture</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462876" y="1546463"/>
            <a:ext cx="11102684" cy="4557145"/>
          </a:xfrm>
          <a:prstGeom prst="rect">
            <a:avLst/>
          </a:prstGeom>
        </p:spPr>
        <p:txBody>
          <a:bodyPr wrap="square">
            <a:spAutoFit/>
          </a:bodyPr>
          <a:lstStyle/>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The VIDHAN architecture is divided into interconnected </a:t>
            </a:r>
            <a:r>
              <a:rPr lang="en-IN" sz="2000" dirty="0" smtClean="0">
                <a:latin typeface="Times New Roman" panose="02020603050405020304" pitchFamily="18" charset="0"/>
                <a:ea typeface="Calibri" panose="020F0502020204030204" pitchFamily="34" charset="0"/>
                <a:cs typeface="Times New Roman" panose="02020603050405020304" pitchFamily="18" charset="0"/>
              </a:rPr>
              <a:t>modules / layers </a:t>
            </a:r>
            <a:r>
              <a:rPr lang="en-IN" sz="2000" dirty="0">
                <a:latin typeface="Times New Roman" panose="02020603050405020304" pitchFamily="18" charset="0"/>
                <a:ea typeface="Calibri" panose="020F0502020204030204" pitchFamily="34" charset="0"/>
                <a:cs typeface="Times New Roman" panose="02020603050405020304" pitchFamily="18" charset="0"/>
              </a:rPr>
              <a:t>that work together to deliver a smooth user experience. Each module performs a specific function to ensure modularity and efficient data flow.</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User Interface </a:t>
            </a:r>
            <a:r>
              <a:rPr lang="en-IN" sz="2000" b="1" dirty="0" smtClean="0">
                <a:latin typeface="Times New Roman" panose="02020603050405020304" pitchFamily="18" charset="0"/>
                <a:ea typeface="Calibri" panose="020F0502020204030204" pitchFamily="34" charset="0"/>
                <a:cs typeface="Times New Roman" panose="02020603050405020304" pitchFamily="18" charset="0"/>
              </a:rPr>
              <a:t>Layer</a:t>
            </a:r>
            <a:r>
              <a:rPr lang="en-IN" sz="2000" b="1"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This layer handles user interaction and interface presentation. It includes web pages for login, registration, content viewing, quizzes, playing games related to concepts and chatbot communication. It is developed using </a:t>
            </a:r>
            <a:r>
              <a:rPr lang="en-IN" sz="2000" dirty="0" err="1">
                <a:latin typeface="Times New Roman" panose="02020603050405020304" pitchFamily="18" charset="0"/>
                <a:ea typeface="Calibri" panose="020F0502020204030204" pitchFamily="34" charset="0"/>
                <a:cs typeface="Times New Roman" panose="02020603050405020304" pitchFamily="18" charset="0"/>
              </a:rPr>
              <a:t>ReactJS</a:t>
            </a:r>
            <a:r>
              <a:rPr lang="en-IN" sz="2000" dirty="0">
                <a:latin typeface="Times New Roman" panose="02020603050405020304" pitchFamily="18" charset="0"/>
                <a:ea typeface="Calibri" panose="020F0502020204030204" pitchFamily="34" charset="0"/>
                <a:cs typeface="Times New Roman" panose="02020603050405020304" pitchFamily="18" charset="0"/>
              </a:rPr>
              <a:t>, ensuring responsiveness and accessibility across devices.</a:t>
            </a:r>
          </a:p>
          <a:p>
            <a:pPr algn="just">
              <a:lnSpc>
                <a:spcPct val="107000"/>
              </a:lnSpc>
              <a:spcAft>
                <a:spcPts val="800"/>
              </a:spcAft>
            </a:pPr>
            <a:r>
              <a:rPr lang="en-IN" sz="2000" b="1" dirty="0" smtClean="0">
                <a:latin typeface="Times New Roman" panose="02020603050405020304" pitchFamily="18" charset="0"/>
                <a:ea typeface="Calibri" panose="020F0502020204030204" pitchFamily="34" charset="0"/>
                <a:cs typeface="Times New Roman" panose="02020603050405020304" pitchFamily="18" charset="0"/>
              </a:rPr>
              <a:t>Web Application Backend </a:t>
            </a:r>
            <a:r>
              <a:rPr lang="en-IN" sz="2000" b="1" dirty="0">
                <a:latin typeface="Times New Roman" panose="02020603050405020304" pitchFamily="18" charset="0"/>
                <a:ea typeface="Calibri" panose="020F0502020204030204" pitchFamily="34" charset="0"/>
                <a:cs typeface="Times New Roman" panose="02020603050405020304" pitchFamily="18" charset="0"/>
              </a:rPr>
              <a:t>Layer:</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The core logic of the platform resides in this layer, built using the Java Spring Boot Framework. It manages user authentication, session handling, quiz evaluation, chatbot responses, and data retrieval. The progress-tracking logic are also implemented here.</a:t>
            </a:r>
          </a:p>
          <a:p>
            <a:pPr algn="just">
              <a:lnSpc>
                <a:spcPct val="107000"/>
              </a:lnSpc>
              <a:spcAft>
                <a:spcPts val="800"/>
              </a:spcAft>
            </a:pPr>
            <a:endParaRPr lang="en-IN" sz="2000" dirty="0" smtClean="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Rectangle 9"/>
          <p:cNvSpPr/>
          <p:nvPr/>
        </p:nvSpPr>
        <p:spPr>
          <a:xfrm>
            <a:off x="533400" y="370127"/>
            <a:ext cx="2396810"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Methodology</a:t>
            </a:r>
            <a:endParaRPr lang="en-IN" sz="3200" dirty="0"/>
          </a:p>
        </p:txBody>
      </p:sp>
    </p:spTree>
    <p:extLst>
      <p:ext uri="{BB962C8B-B14F-4D97-AF65-F5344CB8AC3E}">
        <p14:creationId xmlns:p14="http://schemas.microsoft.com/office/powerpoint/2010/main" val="20138422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16</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cxnSp>
        <p:nvCxnSpPr>
          <p:cNvPr id="4" name="Straight Connector 3"/>
          <p:cNvCxnSpPr/>
          <p:nvPr/>
        </p:nvCxnSpPr>
        <p:spPr>
          <a:xfrm>
            <a:off x="664511" y="1180742"/>
            <a:ext cx="90344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9" name="Rectangle 8"/>
          <p:cNvSpPr/>
          <p:nvPr/>
        </p:nvSpPr>
        <p:spPr>
          <a:xfrm>
            <a:off x="534246" y="1316540"/>
            <a:ext cx="10870843" cy="4211538"/>
          </a:xfrm>
          <a:prstGeom prst="rect">
            <a:avLst/>
          </a:prstGeom>
        </p:spPr>
        <p:txBody>
          <a:bodyPr wrap="square">
            <a:spAutoFit/>
          </a:bodyPr>
          <a:lstStyle/>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Times New Roman" panose="02020603050405020304" pitchFamily="18" charset="0"/>
              </a:rPr>
              <a:t>Database Layer:</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This layer manages data storage and retrieval using MySQL. It stores user profiles, quiz questions, progress records, and chatbot data. The database ensures secure access and fast response times through structured queries and indexing.</a:t>
            </a:r>
            <a:endParaRPr lang="en-IN" sz="2000"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b="1" dirty="0" smtClean="0">
                <a:latin typeface="Times New Roman" panose="02020603050405020304" pitchFamily="18" charset="0"/>
                <a:ea typeface="Calibri" panose="020F0502020204030204" pitchFamily="34" charset="0"/>
                <a:cs typeface="Times New Roman" panose="02020603050405020304" pitchFamily="18" charset="0"/>
              </a:rPr>
              <a:t>Chatbot Modules:</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The chatbot acts as an intelligent learning assistant that interprets user questions using Natural Language Processing (NLP). It provides explanations of constitutional concepts, suggests relevant articles, and guides users through the learning process.</a:t>
            </a:r>
          </a:p>
          <a:p>
            <a:pPr algn="just">
              <a:lnSpc>
                <a:spcPct val="107000"/>
              </a:lnSpc>
              <a:spcAft>
                <a:spcPts val="800"/>
              </a:spcAft>
            </a:pPr>
            <a:r>
              <a:rPr lang="en-IN" sz="2000" b="1" dirty="0" smtClean="0">
                <a:latin typeface="Times New Roman" panose="02020603050405020304" pitchFamily="18" charset="0"/>
                <a:ea typeface="Calibri" panose="020F0502020204030204" pitchFamily="34" charset="0"/>
                <a:cs typeface="Times New Roman" panose="02020603050405020304" pitchFamily="18" charset="0"/>
              </a:rPr>
              <a:t>Games Modules: </a:t>
            </a:r>
          </a:p>
          <a:p>
            <a:pPr algn="just">
              <a:lnSpc>
                <a:spcPct val="107000"/>
              </a:lnSpc>
              <a:spcAft>
                <a:spcPts val="800"/>
              </a:spcAft>
            </a:pPr>
            <a:r>
              <a:rPr lang="en-IN" sz="2000" dirty="0" smtClean="0">
                <a:latin typeface="Times New Roman" panose="02020603050405020304" pitchFamily="18" charset="0"/>
                <a:ea typeface="Calibri" panose="020F0502020204030204" pitchFamily="34" charset="0"/>
                <a:cs typeface="Times New Roman" panose="02020603050405020304" pitchFamily="18" charset="0"/>
              </a:rPr>
              <a:t>The </a:t>
            </a:r>
            <a:r>
              <a:rPr lang="en-IN" sz="2000" dirty="0">
                <a:latin typeface="Times New Roman" panose="02020603050405020304" pitchFamily="18" charset="0"/>
                <a:ea typeface="Calibri" panose="020F0502020204030204" pitchFamily="34" charset="0"/>
                <a:cs typeface="Times New Roman" panose="02020603050405020304" pitchFamily="18" charset="0"/>
              </a:rPr>
              <a:t>gamified component uses point systems, quizzes, badges, and levels to enhance motivation. Users receive feedback and progress updates, turning the learning process into an engaging experience.</a:t>
            </a:r>
          </a:p>
        </p:txBody>
      </p:sp>
    </p:spTree>
    <p:extLst>
      <p:ext uri="{BB962C8B-B14F-4D97-AF65-F5344CB8AC3E}">
        <p14:creationId xmlns:p14="http://schemas.microsoft.com/office/powerpoint/2010/main" val="4342582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17</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cxnSp>
        <p:nvCxnSpPr>
          <p:cNvPr id="4" name="Straight Connector 3"/>
          <p:cNvCxnSpPr/>
          <p:nvPr/>
        </p:nvCxnSpPr>
        <p:spPr>
          <a:xfrm>
            <a:off x="533400" y="1180742"/>
            <a:ext cx="90344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8" name="Title 1"/>
          <p:cNvSpPr txBox="1">
            <a:spLocks/>
          </p:cNvSpPr>
          <p:nvPr/>
        </p:nvSpPr>
        <p:spPr>
          <a:xfrm>
            <a:off x="533400" y="423403"/>
            <a:ext cx="5506792"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778520" y="1513229"/>
            <a:ext cx="7090471" cy="3785652"/>
          </a:xfrm>
          <a:prstGeom prst="rect">
            <a:avLst/>
          </a:prstGeom>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Component	</a:t>
            </a:r>
            <a:r>
              <a:rPr lang="en-IN" sz="2000" b="1" dirty="0" smtClean="0">
                <a:latin typeface="Times New Roman" panose="02020603050405020304" pitchFamily="18" charset="0"/>
                <a:cs typeface="Times New Roman" panose="02020603050405020304" pitchFamily="18" charset="0"/>
              </a:rPr>
              <a:t>	Technology </a:t>
            </a:r>
            <a:r>
              <a:rPr lang="en-IN" sz="2000" b="1" dirty="0">
                <a:latin typeface="Times New Roman" panose="02020603050405020304" pitchFamily="18" charset="0"/>
                <a:cs typeface="Times New Roman" panose="02020603050405020304" pitchFamily="18" charset="0"/>
              </a:rPr>
              <a:t>/ Tool</a:t>
            </a:r>
          </a:p>
          <a:p>
            <a:pPr>
              <a:lnSpc>
                <a:spcPct val="150000"/>
              </a:lnSpc>
            </a:pPr>
            <a:r>
              <a:rPr lang="en-IN" sz="2000" dirty="0">
                <a:latin typeface="Times New Roman" panose="02020603050405020304" pitchFamily="18" charset="0"/>
                <a:cs typeface="Times New Roman" panose="02020603050405020304" pitchFamily="18" charset="0"/>
              </a:rPr>
              <a:t>Frontend		</a:t>
            </a:r>
            <a:r>
              <a:rPr lang="en-IN" sz="2000" dirty="0" smtClean="0">
                <a:latin typeface="Times New Roman" panose="02020603050405020304" pitchFamily="18" charset="0"/>
                <a:cs typeface="Times New Roman" panose="02020603050405020304" pitchFamily="18" charset="0"/>
              </a:rPr>
              <a:t>	</a:t>
            </a:r>
            <a:r>
              <a:rPr lang="en-IN" sz="2000" dirty="0" err="1" smtClean="0">
                <a:latin typeface="Times New Roman" panose="02020603050405020304" pitchFamily="18" charset="0"/>
                <a:cs typeface="Times New Roman" panose="02020603050405020304" pitchFamily="18" charset="0"/>
              </a:rPr>
              <a:t>ReactJS</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Backend		</a:t>
            </a:r>
            <a:r>
              <a:rPr lang="en-IN" sz="2000" dirty="0" smtClean="0">
                <a:latin typeface="Times New Roman" panose="02020603050405020304" pitchFamily="18" charset="0"/>
                <a:cs typeface="Times New Roman" panose="02020603050405020304" pitchFamily="18" charset="0"/>
              </a:rPr>
              <a:t>		Java </a:t>
            </a:r>
            <a:r>
              <a:rPr lang="en-IN" sz="2000" dirty="0">
                <a:latin typeface="Times New Roman" panose="02020603050405020304" pitchFamily="18" charset="0"/>
                <a:cs typeface="Times New Roman" panose="02020603050405020304" pitchFamily="18" charset="0"/>
              </a:rPr>
              <a:t>Spring Boot</a:t>
            </a:r>
          </a:p>
          <a:p>
            <a:pPr>
              <a:lnSpc>
                <a:spcPct val="150000"/>
              </a:lnSpc>
            </a:pPr>
            <a:r>
              <a:rPr lang="en-IN" sz="2000" dirty="0">
                <a:latin typeface="Times New Roman" panose="02020603050405020304" pitchFamily="18" charset="0"/>
                <a:cs typeface="Times New Roman" panose="02020603050405020304" pitchFamily="18" charset="0"/>
              </a:rPr>
              <a:t>Database		</a:t>
            </a:r>
            <a:r>
              <a:rPr lang="en-IN" sz="2000" dirty="0" smtClean="0">
                <a:latin typeface="Times New Roman" panose="02020603050405020304" pitchFamily="18" charset="0"/>
                <a:cs typeface="Times New Roman" panose="02020603050405020304" pitchFamily="18" charset="0"/>
              </a:rPr>
              <a:t>	MySQL</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Chatbot		</a:t>
            </a:r>
            <a:r>
              <a:rPr lang="en-IN" sz="2000" dirty="0" smtClean="0">
                <a:latin typeface="Times New Roman" panose="02020603050405020304" pitchFamily="18" charset="0"/>
                <a:cs typeface="Times New Roman" panose="02020603050405020304" pitchFamily="18" charset="0"/>
              </a:rPr>
              <a:t>		Python </a:t>
            </a:r>
            <a:r>
              <a:rPr lang="en-IN" sz="2000" dirty="0">
                <a:latin typeface="Times New Roman" panose="02020603050405020304" pitchFamily="18" charset="0"/>
                <a:cs typeface="Times New Roman" panose="02020603050405020304" pitchFamily="18" charset="0"/>
              </a:rPr>
              <a:t>(NLP,AI Model)</a:t>
            </a:r>
          </a:p>
          <a:p>
            <a:pPr>
              <a:lnSpc>
                <a:spcPct val="150000"/>
              </a:lnSpc>
            </a:pPr>
            <a:r>
              <a:rPr lang="en-IN" sz="2000" dirty="0">
                <a:latin typeface="Times New Roman" panose="02020603050405020304" pitchFamily="18" charset="0"/>
                <a:cs typeface="Times New Roman" panose="02020603050405020304" pitchFamily="18" charset="0"/>
              </a:rPr>
              <a:t>Gamification		</a:t>
            </a:r>
            <a:r>
              <a:rPr lang="en-IN" sz="2000" dirty="0" smtClean="0">
                <a:latin typeface="Times New Roman" panose="02020603050405020304" pitchFamily="18" charset="0"/>
                <a:cs typeface="Times New Roman" panose="02020603050405020304" pitchFamily="18" charset="0"/>
              </a:rPr>
              <a:t>	</a:t>
            </a:r>
            <a:r>
              <a:rPr lang="en-IN" sz="2000" dirty="0" err="1" smtClean="0">
                <a:latin typeface="Times New Roman" panose="02020603050405020304" pitchFamily="18" charset="0"/>
                <a:cs typeface="Times New Roman" panose="02020603050405020304" pitchFamily="18" charset="0"/>
              </a:rPr>
              <a:t>ReactJS</a:t>
            </a:r>
            <a:r>
              <a:rPr lang="en-IN" sz="2000" dirty="0" smtClean="0">
                <a:latin typeface="Times New Roman" panose="02020603050405020304" pitchFamily="18" charset="0"/>
                <a:cs typeface="Times New Roman" panose="02020603050405020304" pitchFamily="18" charset="0"/>
              </a:rPr>
              <a:t> Game Engine, </a:t>
            </a:r>
            <a:r>
              <a:rPr lang="en-IN" sz="2000" dirty="0">
                <a:latin typeface="Times New Roman" panose="02020603050405020304" pitchFamily="18" charset="0"/>
                <a:cs typeface="Times New Roman" panose="02020603050405020304" pitchFamily="18" charset="0"/>
              </a:rPr>
              <a:t>CSS Animations</a:t>
            </a:r>
          </a:p>
          <a:p>
            <a:pPr>
              <a:lnSpc>
                <a:spcPct val="150000"/>
              </a:lnSpc>
            </a:pPr>
            <a:r>
              <a:rPr lang="en-IN" sz="2000" dirty="0">
                <a:latin typeface="Times New Roman" panose="02020603050405020304" pitchFamily="18" charset="0"/>
                <a:cs typeface="Times New Roman" panose="02020603050405020304" pitchFamily="18" charset="0"/>
              </a:rPr>
              <a:t>Hosting		</a:t>
            </a:r>
            <a:r>
              <a:rPr lang="en-IN" sz="2000" dirty="0" smtClean="0">
                <a:latin typeface="Times New Roman" panose="02020603050405020304" pitchFamily="18" charset="0"/>
                <a:cs typeface="Times New Roman" panose="02020603050405020304" pitchFamily="18" charset="0"/>
              </a:rPr>
              <a:t>		AWS</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Version Control	</a:t>
            </a:r>
            <a:r>
              <a:rPr lang="en-IN" sz="2000" dirty="0" smtClean="0">
                <a:latin typeface="Times New Roman" panose="02020603050405020304" pitchFamily="18" charset="0"/>
                <a:cs typeface="Times New Roman" panose="02020603050405020304" pitchFamily="18" charset="0"/>
              </a:rPr>
              <a:t>	GitHub</a:t>
            </a:r>
            <a:endParaRPr lang="en-IN" sz="2000" dirty="0">
              <a:latin typeface="Times New Roman" panose="02020603050405020304" pitchFamily="18" charset="0"/>
              <a:cs typeface="Times New Roman" panose="02020603050405020304" pitchFamily="18" charset="0"/>
            </a:endParaRPr>
          </a:p>
        </p:txBody>
      </p:sp>
      <p:sp>
        <p:nvSpPr>
          <p:cNvPr id="10" name="Title 1"/>
          <p:cNvSpPr txBox="1">
            <a:spLocks/>
          </p:cNvSpPr>
          <p:nvPr/>
        </p:nvSpPr>
        <p:spPr>
          <a:xfrm>
            <a:off x="623347" y="605654"/>
            <a:ext cx="5506792"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200" dirty="0" smtClean="0">
                <a:solidFill>
                  <a:schemeClr val="tx1"/>
                </a:solidFill>
                <a:latin typeface="Times New Roman" panose="02020603050405020304" pitchFamily="18" charset="0"/>
                <a:cs typeface="Times New Roman" panose="02020603050405020304" pitchFamily="18" charset="0"/>
              </a:rPr>
              <a:t>Tools &amp; Technologies</a:t>
            </a:r>
            <a:endParaRPr lang="en-US" sz="3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31376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p:nvPr/>
        </p:nvPicPr>
        <p:blipFill>
          <a:blip r:embed="rId2">
            <a:extLst>
              <a:ext uri="{28A0092B-C50C-407E-A947-70E740481C1C}">
                <a14:useLocalDpi xmlns:a14="http://schemas.microsoft.com/office/drawing/2010/main" val="0"/>
              </a:ext>
            </a:extLst>
          </a:blip>
          <a:stretch>
            <a:fillRect/>
          </a:stretch>
        </p:blipFill>
        <p:spPr>
          <a:xfrm>
            <a:off x="9698990" y="83409"/>
            <a:ext cx="2493010" cy="1282065"/>
          </a:xfrm>
          <a:prstGeom prst="rect">
            <a:avLst/>
          </a:prstGeom>
        </p:spPr>
      </p:pic>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18</a:t>
            </a:fld>
            <a:endParaRPr lang="en-US"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0" name="Rectangle 9"/>
          <p:cNvSpPr/>
          <p:nvPr/>
        </p:nvSpPr>
        <p:spPr>
          <a:xfrm>
            <a:off x="457170" y="245324"/>
            <a:ext cx="5020542"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System Architecture Diagram</a:t>
            </a:r>
            <a:endParaRPr lang="en-IN" sz="3200" dirty="0">
              <a:latin typeface="Times New Roman" panose="02020603050405020304" pitchFamily="18" charset="0"/>
              <a:cs typeface="Times New Roman" panose="02020603050405020304" pitchFamily="18" charset="0"/>
            </a:endParaRPr>
          </a:p>
        </p:txBody>
      </p:sp>
      <p:cxnSp>
        <p:nvCxnSpPr>
          <p:cNvPr id="12" name="Straight Connector 11"/>
          <p:cNvCxnSpPr/>
          <p:nvPr/>
        </p:nvCxnSpPr>
        <p:spPr>
          <a:xfrm>
            <a:off x="487117" y="842816"/>
            <a:ext cx="90807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5211" y="855534"/>
            <a:ext cx="7089369" cy="5388855"/>
          </a:xfrm>
          <a:prstGeom prst="rect">
            <a:avLst/>
          </a:prstGeom>
        </p:spPr>
      </p:pic>
    </p:spTree>
    <p:extLst>
      <p:ext uri="{BB962C8B-B14F-4D97-AF65-F5344CB8AC3E}">
        <p14:creationId xmlns:p14="http://schemas.microsoft.com/office/powerpoint/2010/main" val="2484817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19</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cxnSp>
        <p:nvCxnSpPr>
          <p:cNvPr id="4" name="Straight Connector 3"/>
          <p:cNvCxnSpPr/>
          <p:nvPr/>
        </p:nvCxnSpPr>
        <p:spPr>
          <a:xfrm>
            <a:off x="533400" y="1180742"/>
            <a:ext cx="90344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8" name="Title 1"/>
          <p:cNvSpPr txBox="1">
            <a:spLocks/>
          </p:cNvSpPr>
          <p:nvPr/>
        </p:nvSpPr>
        <p:spPr>
          <a:xfrm>
            <a:off x="533400" y="423403"/>
            <a:ext cx="5506792"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778520" y="1513229"/>
            <a:ext cx="7090471" cy="498663"/>
          </a:xfrm>
          <a:prstGeom prst="rect">
            <a:avLst/>
          </a:prstGeom>
        </p:spPr>
        <p:txBody>
          <a:bodyPr wrap="square">
            <a:spAutoFit/>
          </a:bodyPr>
          <a:lstStyle/>
          <a:p>
            <a:pPr>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10" name="Title 1"/>
          <p:cNvSpPr txBox="1">
            <a:spLocks/>
          </p:cNvSpPr>
          <p:nvPr/>
        </p:nvSpPr>
        <p:spPr>
          <a:xfrm>
            <a:off x="533400" y="589646"/>
            <a:ext cx="6450553"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3200" dirty="0">
                <a:solidFill>
                  <a:schemeClr val="tx1"/>
                </a:solidFill>
                <a:latin typeface="Times New Roman" panose="02020603050405020304" pitchFamily="18" charset="0"/>
                <a:cs typeface="Times New Roman" panose="02020603050405020304" pitchFamily="18" charset="0"/>
              </a:rPr>
              <a:t>Gamification Implementation Example</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688163" y="1393228"/>
            <a:ext cx="5575565" cy="400110"/>
          </a:xfrm>
          <a:prstGeom prst="rect">
            <a:avLst/>
          </a:prstGeom>
        </p:spPr>
        <p:txBody>
          <a:bodyPr wrap="none">
            <a:spAutoFit/>
          </a:bodyPr>
          <a:lstStyle/>
          <a:p>
            <a:r>
              <a:rPr lang="en-IN" sz="2000" dirty="0" smtClean="0">
                <a:latin typeface="Times New Roman" panose="02020603050405020304" pitchFamily="18" charset="0"/>
                <a:cs typeface="Times New Roman" panose="02020603050405020304" pitchFamily="18" charset="0"/>
              </a:rPr>
              <a:t>EX-01: Article </a:t>
            </a:r>
            <a:r>
              <a:rPr lang="en-IN" sz="2000" dirty="0">
                <a:latin typeface="Times New Roman" panose="02020603050405020304" pitchFamily="18" charset="0"/>
                <a:cs typeface="Times New Roman" panose="02020603050405020304" pitchFamily="18" charset="0"/>
              </a:rPr>
              <a:t>21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Right to Life &amp; Personal Liberty</a:t>
            </a:r>
          </a:p>
        </p:txBody>
      </p:sp>
      <p:sp>
        <p:nvSpPr>
          <p:cNvPr id="11" name="Rectangle 10"/>
          <p:cNvSpPr/>
          <p:nvPr/>
        </p:nvSpPr>
        <p:spPr>
          <a:xfrm>
            <a:off x="816258" y="1758832"/>
            <a:ext cx="10706624" cy="4401205"/>
          </a:xfrm>
          <a:prstGeom prst="rect">
            <a:avLst/>
          </a:prstGeom>
        </p:spPr>
        <p:txBody>
          <a:bodyPr wrap="square">
            <a:spAutoFit/>
          </a:bodyPr>
          <a:lstStyle/>
          <a:p>
            <a:pPr>
              <a:lnSpc>
                <a:spcPct val="150000"/>
              </a:lnSpc>
            </a:pPr>
            <a:r>
              <a:rPr lang="en-IN" sz="2000" dirty="0">
                <a:latin typeface="Times New Roman" panose="02020603050405020304" pitchFamily="18" charset="0"/>
                <a:cs typeface="Times New Roman" panose="02020603050405020304" pitchFamily="18" charset="0"/>
              </a:rPr>
              <a:t>A fast-paced decision-making game where the player protects citizens’ fundamental rights by identifying violations</a:t>
            </a:r>
            <a:r>
              <a:rPr lang="en-IN" sz="2000" dirty="0" smtClean="0">
                <a:latin typeface="Times New Roman" panose="02020603050405020304" pitchFamily="18" charset="0"/>
                <a:cs typeface="Times New Roman" panose="02020603050405020304" pitchFamily="18" charset="0"/>
              </a:rPr>
              <a:t>.</a:t>
            </a:r>
          </a:p>
          <a:p>
            <a:pPr>
              <a:lnSpc>
                <a:spcPct val="150000"/>
              </a:lnSpc>
            </a:pPr>
            <a:r>
              <a:rPr lang="en-US" sz="2000" b="1" dirty="0">
                <a:latin typeface="Times New Roman" panose="02020603050405020304" pitchFamily="18" charset="0"/>
                <a:cs typeface="Times New Roman" panose="02020603050405020304" pitchFamily="18" charset="0"/>
              </a:rPr>
              <a:t>Gameplay</a:t>
            </a:r>
          </a:p>
          <a:p>
            <a:pPr marL="742950" lvl="1" indent="-285750">
              <a:lnSpc>
                <a:spcPct val="15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Player </a:t>
            </a:r>
            <a:r>
              <a:rPr lang="en-US" sz="2000" dirty="0">
                <a:latin typeface="Times New Roman" panose="02020603050405020304" pitchFamily="18" charset="0"/>
                <a:cs typeface="Times New Roman" panose="02020603050405020304" pitchFamily="18" charset="0"/>
              </a:rPr>
              <a:t>must quickly </a:t>
            </a:r>
            <a:r>
              <a:rPr lang="en-US" sz="2000" dirty="0" smtClean="0">
                <a:latin typeface="Times New Roman" panose="02020603050405020304" pitchFamily="18" charset="0"/>
                <a:cs typeface="Times New Roman" panose="02020603050405020304" pitchFamily="18" charset="0"/>
              </a:rPr>
              <a:t>click </a:t>
            </a:r>
            <a:r>
              <a:rPr lang="en-US" sz="2000" dirty="0">
                <a:latin typeface="Times New Roman" panose="02020603050405020304" pitchFamily="18" charset="0"/>
                <a:cs typeface="Times New Roman" panose="02020603050405020304" pitchFamily="18" charset="0"/>
              </a:rPr>
              <a:t>“Protect” if the scenario is a violation OR </a:t>
            </a:r>
            <a:r>
              <a:rPr lang="en-US" sz="2000" dirty="0" smtClean="0">
                <a:latin typeface="Times New Roman" panose="02020603050405020304" pitchFamily="18" charset="0"/>
                <a:cs typeface="Times New Roman" panose="02020603050405020304" pitchFamily="18" charset="0"/>
              </a:rPr>
              <a:t>“Ignore” </a:t>
            </a:r>
            <a:r>
              <a:rPr lang="en-US" sz="2000" dirty="0">
                <a:latin typeface="Times New Roman" panose="02020603050405020304" pitchFamily="18" charset="0"/>
                <a:cs typeface="Times New Roman" panose="02020603050405020304" pitchFamily="18" charset="0"/>
              </a:rPr>
              <a:t>if it is not.</a:t>
            </a:r>
          </a:p>
          <a:p>
            <a:pPr marL="742950" lvl="1"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Example scenarios:</a:t>
            </a:r>
          </a:p>
          <a:p>
            <a:pPr lvl="2">
              <a:lnSpc>
                <a:spcPct val="150000"/>
              </a:lnSpc>
            </a:pPr>
            <a:r>
              <a:rPr lang="en-US" sz="2000" dirty="0">
                <a:latin typeface="Times New Roman" panose="02020603050405020304" pitchFamily="18" charset="0"/>
                <a:cs typeface="Times New Roman" panose="02020603050405020304" pitchFamily="18" charset="0"/>
              </a:rPr>
              <a:t>"Police arrest a citizen without reason" </a:t>
            </a:r>
            <a:r>
              <a:rPr lang="en-US" sz="2000" dirty="0" smtClean="0">
                <a:latin typeface="Times New Roman" panose="02020603050405020304" pitchFamily="18" charset="0"/>
                <a:cs typeface="Times New Roman" panose="02020603050405020304" pitchFamily="18" charset="0"/>
              </a:rPr>
              <a:t>--&gt; </a:t>
            </a:r>
            <a:r>
              <a:rPr lang="en-US" sz="2000" dirty="0">
                <a:latin typeface="Times New Roman" panose="02020603050405020304" pitchFamily="18" charset="0"/>
                <a:cs typeface="Times New Roman" panose="02020603050405020304" pitchFamily="18" charset="0"/>
              </a:rPr>
              <a:t>Violation </a:t>
            </a:r>
            <a:r>
              <a:rPr lang="en-US" sz="2000" dirty="0" smtClean="0">
                <a:latin typeface="Times New Roman" panose="02020603050405020304" pitchFamily="18" charset="0"/>
                <a:cs typeface="Times New Roman" panose="02020603050405020304" pitchFamily="18" charset="0"/>
              </a:rPr>
              <a:t>--&gt; </a:t>
            </a:r>
            <a:r>
              <a:rPr lang="en-US" sz="2000" dirty="0">
                <a:latin typeface="Times New Roman" panose="02020603050405020304" pitchFamily="18" charset="0"/>
                <a:cs typeface="Times New Roman" panose="02020603050405020304" pitchFamily="18" charset="0"/>
              </a:rPr>
              <a:t>Click Protect</a:t>
            </a:r>
          </a:p>
          <a:p>
            <a:pPr lvl="2">
              <a:lnSpc>
                <a:spcPct val="150000"/>
              </a:lnSpc>
            </a:pPr>
            <a:r>
              <a:rPr lang="en-US" sz="2000" dirty="0">
                <a:latin typeface="Times New Roman" panose="02020603050405020304" pitchFamily="18" charset="0"/>
                <a:cs typeface="Times New Roman" panose="02020603050405020304" pitchFamily="18" charset="0"/>
              </a:rPr>
              <a:t>"Government provides clean water" </a:t>
            </a:r>
            <a:r>
              <a:rPr lang="en-US" sz="2000" dirty="0" smtClean="0">
                <a:latin typeface="Times New Roman" panose="02020603050405020304" pitchFamily="18" charset="0"/>
                <a:cs typeface="Times New Roman" panose="02020603050405020304" pitchFamily="18" charset="0"/>
              </a:rPr>
              <a:t>--&gt; </a:t>
            </a:r>
            <a:r>
              <a:rPr lang="en-US" sz="2000" dirty="0">
                <a:latin typeface="Times New Roman" panose="02020603050405020304" pitchFamily="18" charset="0"/>
                <a:cs typeface="Times New Roman" panose="02020603050405020304" pitchFamily="18" charset="0"/>
              </a:rPr>
              <a:t>Not a </a:t>
            </a:r>
            <a:r>
              <a:rPr lang="en-US" sz="2000" dirty="0" smtClean="0">
                <a:latin typeface="Times New Roman" panose="02020603050405020304" pitchFamily="18" charset="0"/>
                <a:cs typeface="Times New Roman" panose="02020603050405020304" pitchFamily="18" charset="0"/>
              </a:rPr>
              <a:t>violation </a:t>
            </a:r>
            <a:r>
              <a:rPr lang="en-US" sz="2000" dirty="0" smtClean="0">
                <a:latin typeface="Times New Roman" panose="02020603050405020304" pitchFamily="18" charset="0"/>
                <a:cs typeface="Times New Roman" panose="02020603050405020304" pitchFamily="18" charset="0"/>
                <a:sym typeface="Wingdings" panose="05000000000000000000" pitchFamily="2" charset="2"/>
              </a:rPr>
              <a:t>--&gt;</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Click Ignore</a:t>
            </a:r>
          </a:p>
          <a:p>
            <a:pPr marL="742950" lvl="1"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Timed gameplay: each round is </a:t>
            </a:r>
            <a:r>
              <a:rPr lang="en-US" sz="2000" dirty="0" smtClean="0">
                <a:latin typeface="Times New Roman" panose="02020603050405020304" pitchFamily="18" charset="0"/>
                <a:cs typeface="Times New Roman" panose="02020603050405020304" pitchFamily="18" charset="0"/>
              </a:rPr>
              <a:t>20 to 30 </a:t>
            </a:r>
            <a:r>
              <a:rPr lang="en-US" sz="2000" dirty="0">
                <a:latin typeface="Times New Roman" panose="02020603050405020304" pitchFamily="18" charset="0"/>
                <a:cs typeface="Times New Roman" panose="02020603050405020304" pitchFamily="18" charset="0"/>
              </a:rPr>
              <a:t>seconds.</a:t>
            </a:r>
          </a:p>
          <a:p>
            <a:r>
              <a:rPr lang="en-US" sz="2000" b="1" dirty="0" smtClean="0">
                <a:latin typeface="Times New Roman" panose="02020603050405020304" pitchFamily="18" charset="0"/>
                <a:cs typeface="Times New Roman" panose="02020603050405020304" pitchFamily="18" charset="0"/>
              </a:rPr>
              <a:t>Outcome: </a:t>
            </a:r>
            <a:r>
              <a:rPr lang="en-US" sz="2000" dirty="0">
                <a:latin typeface="Times New Roman" panose="02020603050405020304" pitchFamily="18" charset="0"/>
                <a:cs typeface="Times New Roman" panose="02020603050405020304" pitchFamily="18" charset="0"/>
              </a:rPr>
              <a:t>Players learn what real-life situations fall under Article 21 and how personal liberty can be violated.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1308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20</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cxnSp>
        <p:nvCxnSpPr>
          <p:cNvPr id="4" name="Straight Connector 3"/>
          <p:cNvCxnSpPr/>
          <p:nvPr/>
        </p:nvCxnSpPr>
        <p:spPr>
          <a:xfrm>
            <a:off x="533400" y="1180742"/>
            <a:ext cx="90344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8" name="Title 1"/>
          <p:cNvSpPr txBox="1">
            <a:spLocks/>
          </p:cNvSpPr>
          <p:nvPr/>
        </p:nvSpPr>
        <p:spPr>
          <a:xfrm>
            <a:off x="533400" y="423403"/>
            <a:ext cx="5506792"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778520" y="1513229"/>
            <a:ext cx="7090471" cy="498663"/>
          </a:xfrm>
          <a:prstGeom prst="rect">
            <a:avLst/>
          </a:prstGeom>
        </p:spPr>
        <p:txBody>
          <a:bodyPr wrap="square">
            <a:spAutoFit/>
          </a:bodyPr>
          <a:lstStyle/>
          <a:p>
            <a:pPr>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10" name="Title 1"/>
          <p:cNvSpPr txBox="1">
            <a:spLocks/>
          </p:cNvSpPr>
          <p:nvPr/>
        </p:nvSpPr>
        <p:spPr>
          <a:xfrm>
            <a:off x="533400" y="589646"/>
            <a:ext cx="6450553" cy="51276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3200" dirty="0">
                <a:solidFill>
                  <a:schemeClr val="tx1"/>
                </a:solidFill>
                <a:latin typeface="Times New Roman" panose="02020603050405020304" pitchFamily="18" charset="0"/>
                <a:cs typeface="Times New Roman" panose="02020603050405020304" pitchFamily="18" charset="0"/>
              </a:rPr>
              <a:t>Gamification Implementation Example</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688163" y="1393228"/>
            <a:ext cx="4029501" cy="400110"/>
          </a:xfrm>
          <a:prstGeom prst="rect">
            <a:avLst/>
          </a:prstGeom>
        </p:spPr>
        <p:txBody>
          <a:bodyPr wrap="none">
            <a:spAutoFit/>
          </a:bodyPr>
          <a:lstStyle/>
          <a:p>
            <a:r>
              <a:rPr lang="en-IN" sz="2000" dirty="0" smtClean="0">
                <a:latin typeface="Times New Roman" panose="02020603050405020304" pitchFamily="18" charset="0"/>
                <a:cs typeface="Times New Roman" panose="02020603050405020304" pitchFamily="18" charset="0"/>
              </a:rPr>
              <a:t>EX-02: </a:t>
            </a:r>
            <a:r>
              <a:rPr lang="en-IN" sz="2000" dirty="0">
                <a:latin typeface="Times New Roman" panose="02020603050405020304" pitchFamily="18" charset="0"/>
                <a:cs typeface="Times New Roman" panose="02020603050405020304" pitchFamily="18" charset="0"/>
              </a:rPr>
              <a:t>Preamble to the Constitution</a:t>
            </a:r>
          </a:p>
        </p:txBody>
      </p:sp>
      <p:sp>
        <p:nvSpPr>
          <p:cNvPr id="11" name="Rectangle 10"/>
          <p:cNvSpPr/>
          <p:nvPr/>
        </p:nvSpPr>
        <p:spPr>
          <a:xfrm>
            <a:off x="688163" y="1814982"/>
            <a:ext cx="10706624" cy="3939540"/>
          </a:xfrm>
          <a:prstGeom prst="rect">
            <a:avLst/>
          </a:prstGeom>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Words from the Preamble are scattered randomly. Player must reorder them correctly. </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b="1" dirty="0" smtClean="0">
                <a:latin typeface="Times New Roman" panose="02020603050405020304" pitchFamily="18" charset="0"/>
                <a:cs typeface="Times New Roman" panose="02020603050405020304" pitchFamily="18" charset="0"/>
              </a:rPr>
              <a:t>Gameplay</a:t>
            </a:r>
            <a:endParaRPr lang="en-US" sz="2000" b="1"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Jumbled </a:t>
            </a:r>
            <a:r>
              <a:rPr lang="en-US" sz="2000" dirty="0">
                <a:latin typeface="Times New Roman" panose="02020603050405020304" pitchFamily="18" charset="0"/>
                <a:cs typeface="Times New Roman" panose="02020603050405020304" pitchFamily="18" charset="0"/>
              </a:rPr>
              <a:t>words appear as tiles.</a:t>
            </a: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Player drags tiles into correct sequence:</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WE, THE PEOPLE OF INDIA…</a:t>
            </a:r>
            <a:endParaRPr lang="en-US" sz="2000" dirty="0">
              <a:latin typeface="Times New Roman" panose="02020603050405020304" pitchFamily="18" charset="0"/>
              <a:cs typeface="Times New Roman" panose="02020603050405020304" pitchFamily="18" charset="0"/>
            </a:endParaRP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Timer increases challenge.</a:t>
            </a:r>
          </a:p>
          <a:p>
            <a:pPr marL="800100" lvl="1"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Stars awarded based on accuracy and time.</a:t>
            </a:r>
          </a:p>
          <a:p>
            <a:endParaRPr lang="en-US" sz="2000" dirty="0" smtClean="0">
              <a:latin typeface="Times New Roman" panose="02020603050405020304" pitchFamily="18" charset="0"/>
              <a:cs typeface="Times New Roman" panose="02020603050405020304" pitchFamily="18" charset="0"/>
            </a:endParaRPr>
          </a:p>
          <a:p>
            <a:r>
              <a:rPr lang="en-US" sz="2000" b="1" dirty="0" smtClean="0">
                <a:latin typeface="Times New Roman" panose="02020603050405020304" pitchFamily="18" charset="0"/>
                <a:cs typeface="Times New Roman" panose="02020603050405020304" pitchFamily="18" charset="0"/>
              </a:rPr>
              <a:t>Outcome : </a:t>
            </a:r>
            <a:r>
              <a:rPr lang="en-US" sz="2000" dirty="0">
                <a:latin typeface="Times New Roman" panose="02020603050405020304" pitchFamily="18" charset="0"/>
                <a:cs typeface="Times New Roman" panose="02020603050405020304" pitchFamily="18" charset="0"/>
              </a:rPr>
              <a:t>Players memorize Preamble phrases through a fun puzzle mechanic.</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18374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21</a:t>
            </a:fld>
            <a:endParaRPr lang="en-US"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0" name="Rectangle 9"/>
          <p:cNvSpPr/>
          <p:nvPr/>
        </p:nvSpPr>
        <p:spPr>
          <a:xfrm>
            <a:off x="719892" y="339861"/>
            <a:ext cx="3297698"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Sequence Diagram</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4779" y="1068863"/>
            <a:ext cx="8475679" cy="5240880"/>
          </a:xfrm>
          <a:prstGeom prst="rect">
            <a:avLst/>
          </a:prstGeom>
        </p:spPr>
      </p:pic>
    </p:spTree>
    <p:extLst>
      <p:ext uri="{BB962C8B-B14F-4D97-AF65-F5344CB8AC3E}">
        <p14:creationId xmlns:p14="http://schemas.microsoft.com/office/powerpoint/2010/main" val="34501521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8" name="Rectangle 7"/>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3" name="Slide Number Placeholder 2"/>
          <p:cNvSpPr>
            <a:spLocks noGrp="1"/>
          </p:cNvSpPr>
          <p:nvPr>
            <p:ph type="sldNum" sz="quarter" idx="12"/>
          </p:nvPr>
        </p:nvSpPr>
        <p:spPr/>
        <p:txBody>
          <a:bodyPr/>
          <a:lstStyle/>
          <a:p>
            <a:fld id="{4FAB73BC-B049-4115-A692-8D63A059BFB8}" type="slidenum">
              <a:rPr lang="en-US" smtClean="0"/>
              <a:t>22</a:t>
            </a:fld>
            <a:endParaRPr lang="en-US" dirty="0"/>
          </a:p>
        </p:txBody>
      </p:sp>
      <p:sp>
        <p:nvSpPr>
          <p:cNvPr id="10" name="Rectangle 9"/>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1" name="Rectangle 10"/>
          <p:cNvSpPr/>
          <p:nvPr/>
        </p:nvSpPr>
        <p:spPr>
          <a:xfrm>
            <a:off x="495891" y="153888"/>
            <a:ext cx="3068469"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Activity Diagram</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4360" y="307777"/>
            <a:ext cx="5567807" cy="5984740"/>
          </a:xfrm>
          <a:prstGeom prst="rect">
            <a:avLst/>
          </a:prstGeom>
        </p:spPr>
      </p:pic>
    </p:spTree>
    <p:extLst>
      <p:ext uri="{BB962C8B-B14F-4D97-AF65-F5344CB8AC3E}">
        <p14:creationId xmlns:p14="http://schemas.microsoft.com/office/powerpoint/2010/main" val="11533227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4FAB73BC-B049-4115-A692-8D63A059BFB8}" type="slidenum">
              <a:rPr lang="en-US" smtClean="0"/>
              <a:t>23</a:t>
            </a:fld>
            <a:endParaRPr lang="en-US" dirty="0"/>
          </a:p>
        </p:txBody>
      </p:sp>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1" name="Rectangle 10"/>
          <p:cNvSpPr/>
          <p:nvPr/>
        </p:nvSpPr>
        <p:spPr>
          <a:xfrm>
            <a:off x="591412" y="125874"/>
            <a:ext cx="2614818" cy="584775"/>
          </a:xfrm>
          <a:prstGeom prst="rect">
            <a:avLst/>
          </a:prstGeom>
        </p:spPr>
        <p:txBody>
          <a:bodyPr wrap="none">
            <a:spAutoFit/>
          </a:bodyPr>
          <a:lstStyle/>
          <a:p>
            <a:r>
              <a:rPr lang="en-US" sz="3200" dirty="0" smtClean="0">
                <a:latin typeface="Times New Roman" panose="02020603050405020304" pitchFamily="18" charset="0"/>
                <a:cs typeface="Times New Roman" panose="02020603050405020304" pitchFamily="18" charset="0"/>
              </a:rPr>
              <a:t>Class </a:t>
            </a:r>
            <a:r>
              <a:rPr lang="en-US" sz="3200" dirty="0">
                <a:latin typeface="Times New Roman" panose="02020603050405020304" pitchFamily="18" charset="0"/>
                <a:cs typeface="Times New Roman" panose="02020603050405020304" pitchFamily="18" charset="0"/>
              </a:rPr>
              <a:t>Diagram</a:t>
            </a:r>
          </a:p>
        </p:txBody>
      </p:sp>
      <p:pic>
        <p:nvPicPr>
          <p:cNvPr id="13" name="Picture 12"/>
          <p:cNvPicPr/>
          <p:nvPr/>
        </p:nvPicPr>
        <p:blipFill>
          <a:blip r:embed="rId2">
            <a:extLst>
              <a:ext uri="{28A0092B-C50C-407E-A947-70E740481C1C}">
                <a14:useLocalDpi xmlns:a14="http://schemas.microsoft.com/office/drawing/2010/main" val="0"/>
              </a:ext>
            </a:extLst>
          </a:blip>
          <a:stretch>
            <a:fillRect/>
          </a:stretch>
        </p:blipFill>
        <p:spPr>
          <a:xfrm>
            <a:off x="9698990" y="69616"/>
            <a:ext cx="2493010" cy="1282065"/>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4404" y="710648"/>
            <a:ext cx="7744586" cy="5636402"/>
          </a:xfrm>
          <a:prstGeom prst="rect">
            <a:avLst/>
          </a:prstGeom>
        </p:spPr>
      </p:pic>
    </p:spTree>
    <p:extLst>
      <p:ext uri="{BB962C8B-B14F-4D97-AF65-F5344CB8AC3E}">
        <p14:creationId xmlns:p14="http://schemas.microsoft.com/office/powerpoint/2010/main" val="19535743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7" name="Rectangle 6"/>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2" name="Slide Number Placeholder 1"/>
          <p:cNvSpPr>
            <a:spLocks noGrp="1"/>
          </p:cNvSpPr>
          <p:nvPr>
            <p:ph type="sldNum" sz="quarter" idx="12"/>
          </p:nvPr>
        </p:nvSpPr>
        <p:spPr/>
        <p:txBody>
          <a:bodyPr/>
          <a:lstStyle/>
          <a:p>
            <a:fld id="{4FAB73BC-B049-4115-A692-8D63A059BFB8}" type="slidenum">
              <a:rPr lang="en-US" smtClean="0"/>
              <a:pPr/>
              <a:t>24</a:t>
            </a:fld>
            <a:endParaRPr lang="en-US" dirty="0"/>
          </a:p>
        </p:txBody>
      </p:sp>
      <p:sp>
        <p:nvSpPr>
          <p:cNvPr id="9" name="Rectangle 8"/>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1" name="Rectangle 10"/>
          <p:cNvSpPr/>
          <p:nvPr/>
        </p:nvSpPr>
        <p:spPr>
          <a:xfrm>
            <a:off x="419070" y="136812"/>
            <a:ext cx="3265638" cy="584775"/>
          </a:xfrm>
          <a:prstGeom prst="rect">
            <a:avLst/>
          </a:prstGeom>
        </p:spPr>
        <p:txBody>
          <a:bodyPr wrap="none">
            <a:spAutoFit/>
          </a:bodyPr>
          <a:lstStyle/>
          <a:p>
            <a:r>
              <a:rPr lang="en-US" sz="3200" dirty="0" smtClean="0">
                <a:latin typeface="Times New Roman" panose="02020603050405020304" pitchFamily="18" charset="0"/>
                <a:cs typeface="Times New Roman" panose="02020603050405020304" pitchFamily="18" charset="0"/>
              </a:rPr>
              <a:t>Use Case Diagram</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6487" y="721587"/>
            <a:ext cx="7439025" cy="5522050"/>
          </a:xfrm>
          <a:prstGeom prst="rect">
            <a:avLst/>
          </a:prstGeom>
        </p:spPr>
      </p:pic>
    </p:spTree>
    <p:extLst>
      <p:ext uri="{BB962C8B-B14F-4D97-AF65-F5344CB8AC3E}">
        <p14:creationId xmlns:p14="http://schemas.microsoft.com/office/powerpoint/2010/main" val="202708550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25</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42353"/>
            <a:ext cx="2493010" cy="1122958"/>
          </a:xfrm>
          <a:prstGeom prst="rect">
            <a:avLst/>
          </a:prstGeom>
        </p:spPr>
      </p:pic>
      <p:sp>
        <p:nvSpPr>
          <p:cNvPr id="5" name="Rectangle 4"/>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6" name="Rectangle 5"/>
          <p:cNvSpPr/>
          <p:nvPr/>
        </p:nvSpPr>
        <p:spPr>
          <a:xfrm>
            <a:off x="522514" y="603832"/>
            <a:ext cx="2055371" cy="584775"/>
          </a:xfrm>
          <a:prstGeom prst="rect">
            <a:avLst/>
          </a:prstGeom>
        </p:spPr>
        <p:txBody>
          <a:bodyPr wrap="none">
            <a:spAutoFit/>
          </a:bodyPr>
          <a:lstStyle/>
          <a:p>
            <a:r>
              <a:rPr lang="en-US" sz="3200" dirty="0" smtClean="0">
                <a:latin typeface="Times New Roman" panose="02020603050405020304" pitchFamily="18" charset="0"/>
                <a:cs typeface="Times New Roman" panose="02020603050405020304" pitchFamily="18" charset="0"/>
              </a:rPr>
              <a:t>Conclusion</a:t>
            </a:r>
            <a:endParaRPr lang="en-US" sz="3200" dirty="0">
              <a:latin typeface="Times New Roman" panose="02020603050405020304" pitchFamily="18" charset="0"/>
              <a:cs typeface="Times New Roman" panose="02020603050405020304" pitchFamily="18" charset="0"/>
            </a:endParaRPr>
          </a:p>
        </p:txBody>
      </p:sp>
      <p:cxnSp>
        <p:nvCxnSpPr>
          <p:cNvPr id="11" name="Straight Connector 10"/>
          <p:cNvCxnSpPr/>
          <p:nvPr/>
        </p:nvCxnSpPr>
        <p:spPr>
          <a:xfrm>
            <a:off x="522514" y="1320800"/>
            <a:ext cx="91764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13" name="Rectangle 12"/>
          <p:cNvSpPr/>
          <p:nvPr/>
        </p:nvSpPr>
        <p:spPr>
          <a:xfrm>
            <a:off x="427025" y="1377405"/>
            <a:ext cx="11085286" cy="4093428"/>
          </a:xfrm>
          <a:prstGeom prst="rect">
            <a:avLst/>
          </a:prstGeom>
        </p:spPr>
        <p:txBody>
          <a:bodyPr wrap="square">
            <a:spAutoFit/>
          </a:bodyPr>
          <a:lstStyle/>
          <a:p>
            <a:r>
              <a:rPr lang="en-US" sz="2000" dirty="0" smtClean="0">
                <a:latin typeface="Times New Roman" panose="02020603050405020304" pitchFamily="18" charset="0"/>
                <a:cs typeface="Times New Roman" panose="02020603050405020304" pitchFamily="18" charset="0"/>
              </a:rPr>
              <a:t>This </a:t>
            </a:r>
            <a:r>
              <a:rPr lang="en-US" sz="2000" dirty="0">
                <a:latin typeface="Times New Roman" panose="02020603050405020304" pitchFamily="18" charset="0"/>
                <a:cs typeface="Times New Roman" panose="02020603050405020304" pitchFamily="18" charset="0"/>
              </a:rPr>
              <a:t>project </a:t>
            </a:r>
            <a:r>
              <a:rPr lang="en-US" sz="2000" dirty="0" smtClean="0">
                <a:latin typeface="Times New Roman" panose="02020603050405020304" pitchFamily="18" charset="0"/>
                <a:cs typeface="Times New Roman" panose="02020603050405020304" pitchFamily="18" charset="0"/>
              </a:rPr>
              <a:t>is will be able to demonstrates how </a:t>
            </a:r>
            <a:r>
              <a:rPr lang="en-US" sz="2000" dirty="0">
                <a:latin typeface="Times New Roman" panose="02020603050405020304" pitchFamily="18" charset="0"/>
                <a:cs typeface="Times New Roman" panose="02020603050405020304" pitchFamily="18" charset="0"/>
              </a:rPr>
              <a:t>technology can revolutionize civic education. By uniting the foundational text of the Constitution with an intelligent </a:t>
            </a:r>
            <a:r>
              <a:rPr lang="en-US" sz="2000" dirty="0" err="1" smtClean="0">
                <a:latin typeface="Times New Roman" panose="02020603050405020304" pitchFamily="18" charset="0"/>
                <a:cs typeface="Times New Roman" panose="02020603050405020304" pitchFamily="18" charset="0"/>
              </a:rPr>
              <a:t>Chatbot</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assistant and the interactive nature of games, we </a:t>
            </a:r>
            <a:r>
              <a:rPr lang="en-US" sz="2000" dirty="0" smtClean="0">
                <a:latin typeface="Times New Roman" panose="02020603050405020304" pitchFamily="18" charset="0"/>
                <a:cs typeface="Times New Roman" panose="02020603050405020304" pitchFamily="18" charset="0"/>
              </a:rPr>
              <a:t>create a </a:t>
            </a:r>
            <a:r>
              <a:rPr lang="en-US" sz="2000" dirty="0">
                <a:latin typeface="Times New Roman" panose="02020603050405020304" pitchFamily="18" charset="0"/>
                <a:cs typeface="Times New Roman" panose="02020603050405020304" pitchFamily="18" charset="0"/>
              </a:rPr>
              <a:t>platform that makes learning not only accessible but also genuinely engaging. </a:t>
            </a:r>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Bridging History and Technology: </a:t>
            </a:r>
            <a:r>
              <a:rPr lang="en-US" sz="2000" dirty="0" smtClean="0">
                <a:latin typeface="Times New Roman" panose="02020603050405020304" pitchFamily="18" charset="0"/>
                <a:cs typeface="Times New Roman" panose="02020603050405020304" pitchFamily="18" charset="0"/>
              </a:rPr>
              <a:t>VIDHAN will be an </a:t>
            </a:r>
            <a:r>
              <a:rPr lang="en-US" sz="2000" dirty="0">
                <a:latin typeface="Times New Roman" panose="02020603050405020304" pitchFamily="18" charset="0"/>
                <a:cs typeface="Times New Roman" panose="02020603050405020304" pitchFamily="18" charset="0"/>
              </a:rPr>
              <a:t>unique platform </a:t>
            </a:r>
            <a:r>
              <a:rPr lang="en-US" sz="2000" dirty="0" smtClean="0">
                <a:latin typeface="Times New Roman" panose="02020603050405020304" pitchFamily="18" charset="0"/>
                <a:cs typeface="Times New Roman" panose="02020603050405020304" pitchFamily="18" charset="0"/>
              </a:rPr>
              <a:t>that fuses </a:t>
            </a:r>
            <a:r>
              <a:rPr lang="en-US" sz="2000" dirty="0">
                <a:latin typeface="Times New Roman" panose="02020603050405020304" pitchFamily="18" charset="0"/>
                <a:cs typeface="Times New Roman" panose="02020603050405020304" pitchFamily="18" charset="0"/>
              </a:rPr>
              <a:t>the foundational principles of the Constitution with the power of AI and the engagement of gamification</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AI as a Personal Tutor: </a:t>
            </a:r>
            <a:r>
              <a:rPr lang="en-US" sz="2000" dirty="0">
                <a:latin typeface="Times New Roman" panose="02020603050405020304" pitchFamily="18" charset="0"/>
                <a:cs typeface="Times New Roman" panose="02020603050405020304" pitchFamily="18" charset="0"/>
              </a:rPr>
              <a:t>Our </a:t>
            </a:r>
            <a:r>
              <a:rPr lang="en-US" sz="2000" dirty="0" err="1" smtClean="0">
                <a:latin typeface="Times New Roman" panose="02020603050405020304" pitchFamily="18" charset="0"/>
                <a:cs typeface="Times New Roman" panose="02020603050405020304" pitchFamily="18" charset="0"/>
              </a:rPr>
              <a:t>chatbot</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assistant </a:t>
            </a:r>
            <a:r>
              <a:rPr lang="en-US" sz="2000" dirty="0" smtClean="0">
                <a:latin typeface="Times New Roman" panose="02020603050405020304" pitchFamily="18" charset="0"/>
                <a:cs typeface="Times New Roman" panose="02020603050405020304" pitchFamily="18" charset="0"/>
              </a:rPr>
              <a:t>will give simple answer to </a:t>
            </a:r>
            <a:r>
              <a:rPr lang="en-US" sz="2000" dirty="0">
                <a:latin typeface="Times New Roman" panose="02020603050405020304" pitchFamily="18" charset="0"/>
                <a:cs typeface="Times New Roman" panose="02020603050405020304" pitchFamily="18" charset="0"/>
              </a:rPr>
              <a:t>complex legal </a:t>
            </a:r>
            <a:r>
              <a:rPr lang="en-US" sz="2000" dirty="0" smtClean="0">
                <a:latin typeface="Times New Roman" panose="02020603050405020304" pitchFamily="18" charset="0"/>
                <a:cs typeface="Times New Roman" panose="02020603050405020304" pitchFamily="18" charset="0"/>
              </a:rPr>
              <a:t>language questions, </a:t>
            </a:r>
            <a:r>
              <a:rPr lang="en-US" sz="2000" dirty="0">
                <a:latin typeface="Times New Roman" panose="02020603050405020304" pitchFamily="18" charset="0"/>
                <a:cs typeface="Times New Roman" panose="02020603050405020304" pitchFamily="18" charset="0"/>
              </a:rPr>
              <a:t>making constitutional knowledge accessible and understandable for learners of all ages and backgrounds</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Gamification for Deeper Learning: </a:t>
            </a:r>
            <a:r>
              <a:rPr lang="en-US" sz="2000" dirty="0">
                <a:latin typeface="Times New Roman" panose="02020603050405020304" pitchFamily="18" charset="0"/>
                <a:cs typeface="Times New Roman" panose="02020603050405020304" pitchFamily="18" charset="0"/>
              </a:rPr>
              <a:t>By transforming constitutional articles and amendments into interactive games, </a:t>
            </a:r>
            <a:r>
              <a:rPr lang="en-US" sz="2000" dirty="0" smtClean="0">
                <a:latin typeface="Times New Roman" panose="02020603050405020304" pitchFamily="18" charset="0"/>
                <a:cs typeface="Times New Roman" panose="02020603050405020304" pitchFamily="18" charset="0"/>
              </a:rPr>
              <a:t>it makes learning </a:t>
            </a:r>
            <a:r>
              <a:rPr lang="en-US" sz="2000" dirty="0">
                <a:latin typeface="Times New Roman" panose="02020603050405020304" pitchFamily="18" charset="0"/>
                <a:cs typeface="Times New Roman" panose="02020603050405020304" pitchFamily="18" charset="0"/>
              </a:rPr>
              <a:t>about civics </a:t>
            </a:r>
            <a:r>
              <a:rPr lang="en-US" sz="2000" dirty="0" smtClean="0">
                <a:latin typeface="Times New Roman" panose="02020603050405020304" pitchFamily="18" charset="0"/>
                <a:cs typeface="Times New Roman" panose="02020603050405020304" pitchFamily="18" charset="0"/>
              </a:rPr>
              <a:t>engaging</a:t>
            </a:r>
            <a:r>
              <a:rPr lang="en-US" sz="2000" dirty="0">
                <a:latin typeface="Times New Roman" panose="02020603050405020304" pitchFamily="18" charset="0"/>
                <a:cs typeface="Times New Roman" panose="02020603050405020304" pitchFamily="18" charset="0"/>
              </a:rPr>
              <a:t>, memorable, and effective</a:t>
            </a:r>
            <a:r>
              <a:rPr lang="en-US" sz="2000"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A Blueprint for Modern Education</a:t>
            </a:r>
            <a:r>
              <a:rPr lang="en-US" sz="2000" dirty="0">
                <a:latin typeface="Times New Roman" panose="02020603050405020304" pitchFamily="18" charset="0"/>
                <a:cs typeface="Times New Roman" panose="02020603050405020304" pitchFamily="18" charset="0"/>
              </a:rPr>
              <a:t>: This project serves as a powerful model for how foundational civic documents can be </a:t>
            </a:r>
            <a:r>
              <a:rPr lang="en-US" sz="2000" dirty="0" smtClean="0">
                <a:latin typeface="Times New Roman" panose="02020603050405020304" pitchFamily="18" charset="0"/>
                <a:cs typeface="Times New Roman" panose="02020603050405020304" pitchFamily="18" charset="0"/>
              </a:rPr>
              <a:t>reformed </a:t>
            </a:r>
            <a:r>
              <a:rPr lang="en-US" sz="2000" dirty="0">
                <a:latin typeface="Times New Roman" panose="02020603050405020304" pitchFamily="18" charset="0"/>
                <a:cs typeface="Times New Roman" panose="02020603050405020304" pitchFamily="18" charset="0"/>
              </a:rPr>
              <a:t>for a digital-first generation, fostering a more informed and engaged </a:t>
            </a:r>
            <a:r>
              <a:rPr lang="en-US" sz="2000" dirty="0" smtClean="0">
                <a:latin typeface="Times New Roman" panose="02020603050405020304" pitchFamily="18" charset="0"/>
                <a:cs typeface="Times New Roman" panose="02020603050405020304" pitchFamily="18" charset="0"/>
              </a:rPr>
              <a:t>society.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98011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26</a:t>
            </a:fld>
            <a:endParaRPr lang="en-US" dirty="0"/>
          </a:p>
        </p:txBody>
      </p:sp>
      <p:pic>
        <p:nvPicPr>
          <p:cNvPr id="3" name="Picture 2"/>
          <p:cNvPicPr/>
          <p:nvPr/>
        </p:nvPicPr>
        <p:blipFill>
          <a:blip r:embed="rId2">
            <a:extLst>
              <a:ext uri="{28A0092B-C50C-407E-A947-70E740481C1C}">
                <a14:useLocalDpi xmlns:a14="http://schemas.microsoft.com/office/drawing/2010/main" val="0"/>
              </a:ext>
            </a:extLst>
          </a:blip>
          <a:stretch>
            <a:fillRect/>
          </a:stretch>
        </p:blipFill>
        <p:spPr>
          <a:xfrm>
            <a:off x="9698990" y="42353"/>
            <a:ext cx="2493010" cy="1122958"/>
          </a:xfrm>
          <a:prstGeom prst="rect">
            <a:avLst/>
          </a:prstGeom>
        </p:spPr>
      </p:pic>
      <p:sp>
        <p:nvSpPr>
          <p:cNvPr id="5" name="Rectangle 4"/>
          <p:cNvSpPr/>
          <p:nvPr/>
        </p:nvSpPr>
        <p:spPr>
          <a:xfrm>
            <a:off x="522514" y="446156"/>
            <a:ext cx="2361544" cy="584775"/>
          </a:xfrm>
          <a:prstGeom prst="rect">
            <a:avLst/>
          </a:prstGeom>
        </p:spPr>
        <p:txBody>
          <a:bodyPr wrap="none">
            <a:spAutoFit/>
          </a:bodyPr>
          <a:lstStyle/>
          <a:p>
            <a:r>
              <a:rPr lang="en-US" sz="3200" dirty="0" smtClean="0">
                <a:latin typeface="Times New Roman" panose="02020603050405020304" pitchFamily="18" charset="0"/>
                <a:cs typeface="Times New Roman" panose="02020603050405020304" pitchFamily="18" charset="0"/>
              </a:rPr>
              <a:t>Future Scope</a:t>
            </a:r>
            <a:endParaRPr lang="en-US" sz="3200" dirty="0">
              <a:latin typeface="Times New Roman" panose="02020603050405020304" pitchFamily="18" charset="0"/>
              <a:cs typeface="Times New Roman" panose="02020603050405020304" pitchFamily="18" charset="0"/>
            </a:endParaRPr>
          </a:p>
        </p:txBody>
      </p:sp>
      <p:sp>
        <p:nvSpPr>
          <p:cNvPr id="6" name="Rectangle 5"/>
          <p:cNvSpPr/>
          <p:nvPr/>
        </p:nvSpPr>
        <p:spPr>
          <a:xfrm>
            <a:off x="2692400"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cxnSp>
        <p:nvCxnSpPr>
          <p:cNvPr id="8" name="Straight Connector 7"/>
          <p:cNvCxnSpPr/>
          <p:nvPr/>
        </p:nvCxnSpPr>
        <p:spPr>
          <a:xfrm>
            <a:off x="522514" y="1047876"/>
            <a:ext cx="91764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22514" y="1165311"/>
            <a:ext cx="11074400" cy="4862870"/>
          </a:xfrm>
          <a:prstGeom prst="rect">
            <a:avLst/>
          </a:prstGeom>
        </p:spPr>
        <p:txBody>
          <a:bodyPr wrap="square">
            <a:spAutoFit/>
          </a:bodyPr>
          <a:lstStyle/>
          <a:p>
            <a:pPr>
              <a:spcBef>
                <a:spcPts val="600"/>
              </a:spcBef>
              <a:spcAft>
                <a:spcPts val="600"/>
              </a:spcAft>
            </a:pPr>
            <a:r>
              <a:rPr lang="en-IN" sz="2000" b="1" dirty="0">
                <a:latin typeface="Times New Roman" panose="02020603050405020304" pitchFamily="18" charset="0"/>
                <a:cs typeface="Times New Roman" panose="02020603050405020304" pitchFamily="18" charset="0"/>
              </a:rPr>
              <a:t>Content Expansion: </a:t>
            </a:r>
            <a:r>
              <a:rPr lang="en-IN" sz="2000" dirty="0">
                <a:latin typeface="Times New Roman" panose="02020603050405020304" pitchFamily="18" charset="0"/>
                <a:cs typeface="Times New Roman" panose="02020603050405020304" pitchFamily="18" charset="0"/>
              </a:rPr>
              <a:t>Introduce modules on landmark Supreme Court cases, historical context, and comparisons with global constitutions.</a:t>
            </a:r>
          </a:p>
          <a:p>
            <a:pPr>
              <a:spcBef>
                <a:spcPts val="600"/>
              </a:spcBef>
              <a:spcAft>
                <a:spcPts val="600"/>
              </a:spcAft>
            </a:pPr>
            <a:r>
              <a:rPr lang="en-IN" sz="2000" b="1" dirty="0" smtClean="0">
                <a:latin typeface="Times New Roman" panose="02020603050405020304" pitchFamily="18" charset="0"/>
                <a:cs typeface="Times New Roman" panose="02020603050405020304" pitchFamily="18" charset="0"/>
              </a:rPr>
              <a:t>Enhanced </a:t>
            </a:r>
            <a:r>
              <a:rPr lang="en-IN" sz="2000" b="1" dirty="0">
                <a:latin typeface="Times New Roman" panose="02020603050405020304" pitchFamily="18" charset="0"/>
                <a:cs typeface="Times New Roman" panose="02020603050405020304" pitchFamily="18" charset="0"/>
              </a:rPr>
              <a:t>AI Capabilities:</a:t>
            </a:r>
            <a:r>
              <a:rPr lang="en-IN" sz="2000" dirty="0">
                <a:latin typeface="Times New Roman" panose="02020603050405020304" pitchFamily="18" charset="0"/>
                <a:cs typeface="Times New Roman" panose="02020603050405020304" pitchFamily="18" charset="0"/>
              </a:rPr>
              <a:t> Develop more advanced AI features, including personalized learning paths based on user performance and Socratic-style debate simulations.</a:t>
            </a:r>
          </a:p>
          <a:p>
            <a:pPr>
              <a:spcBef>
                <a:spcPts val="600"/>
              </a:spcBef>
              <a:spcAft>
                <a:spcPts val="600"/>
              </a:spcAft>
            </a:pPr>
            <a:r>
              <a:rPr lang="en-IN" sz="2000" b="1" dirty="0" smtClean="0">
                <a:latin typeface="Times New Roman" panose="02020603050405020304" pitchFamily="18" charset="0"/>
                <a:cs typeface="Times New Roman" panose="02020603050405020304" pitchFamily="18" charset="0"/>
              </a:rPr>
              <a:t>Community </a:t>
            </a:r>
            <a:r>
              <a:rPr lang="en-IN" sz="2000" b="1" dirty="0">
                <a:latin typeface="Times New Roman" panose="02020603050405020304" pitchFamily="18" charset="0"/>
                <a:cs typeface="Times New Roman" panose="02020603050405020304" pitchFamily="18" charset="0"/>
              </a:rPr>
              <a:t>&amp; Collaboration: </a:t>
            </a:r>
            <a:r>
              <a:rPr lang="en-IN" sz="2000" dirty="0">
                <a:latin typeface="Times New Roman" panose="02020603050405020304" pitchFamily="18" charset="0"/>
                <a:cs typeface="Times New Roman" panose="02020603050405020304" pitchFamily="18" charset="0"/>
              </a:rPr>
              <a:t>Launch multiplayer games, class </a:t>
            </a:r>
            <a:r>
              <a:rPr lang="en-IN" sz="2000" dirty="0" err="1">
                <a:latin typeface="Times New Roman" panose="02020603050405020304" pitchFamily="18" charset="0"/>
                <a:cs typeface="Times New Roman" panose="02020603050405020304" pitchFamily="18" charset="0"/>
              </a:rPr>
              <a:t>leaderboards</a:t>
            </a:r>
            <a:r>
              <a:rPr lang="en-IN" sz="2000" dirty="0">
                <a:latin typeface="Times New Roman" panose="02020603050405020304" pitchFamily="18" charset="0"/>
                <a:cs typeface="Times New Roman" panose="02020603050405020304" pitchFamily="18" charset="0"/>
              </a:rPr>
              <a:t>, and teacher-focused dashboards to build a collaborative learning community</a:t>
            </a:r>
            <a:r>
              <a:rPr lang="en-IN" sz="2000" dirty="0" smtClean="0">
                <a:latin typeface="Times New Roman" panose="02020603050405020304" pitchFamily="18" charset="0"/>
                <a:cs typeface="Times New Roman" panose="02020603050405020304" pitchFamily="18" charset="0"/>
              </a:rPr>
              <a:t>.</a:t>
            </a:r>
          </a:p>
          <a:p>
            <a:pPr>
              <a:spcBef>
                <a:spcPts val="600"/>
              </a:spcBef>
              <a:spcAft>
                <a:spcPts val="600"/>
              </a:spcAft>
            </a:pPr>
            <a:r>
              <a:rPr lang="en-US" sz="2000" b="1" dirty="0" smtClean="0">
                <a:latin typeface="Times New Roman" panose="02020603050405020304" pitchFamily="18" charset="0"/>
                <a:cs typeface="Times New Roman" panose="02020603050405020304" pitchFamily="18" charset="0"/>
              </a:rPr>
              <a:t>More </a:t>
            </a:r>
            <a:r>
              <a:rPr lang="en-US" sz="2000" b="1" dirty="0">
                <a:latin typeface="Times New Roman" panose="02020603050405020304" pitchFamily="18" charset="0"/>
                <a:cs typeface="Times New Roman" panose="02020603050405020304" pitchFamily="18" charset="0"/>
              </a:rPr>
              <a:t>Content: </a:t>
            </a:r>
            <a:r>
              <a:rPr lang="en-US" sz="2000" dirty="0">
                <a:latin typeface="Times New Roman" panose="02020603050405020304" pitchFamily="18" charset="0"/>
                <a:cs typeface="Times New Roman" panose="02020603050405020304" pitchFamily="18" charset="0"/>
              </a:rPr>
              <a:t>Adding historical case studies and comparing constitutions from other countries.</a:t>
            </a:r>
          </a:p>
          <a:p>
            <a:pPr>
              <a:spcBef>
                <a:spcPts val="600"/>
              </a:spcBef>
              <a:spcAft>
                <a:spcPts val="600"/>
              </a:spcAft>
            </a:pPr>
            <a:r>
              <a:rPr lang="en-US" sz="2000" b="1" dirty="0" smtClean="0">
                <a:latin typeface="Times New Roman" panose="02020603050405020304" pitchFamily="18" charset="0"/>
                <a:cs typeface="Times New Roman" panose="02020603050405020304" pitchFamily="18" charset="0"/>
              </a:rPr>
              <a:t>Team </a:t>
            </a:r>
            <a:r>
              <a:rPr lang="en-US" sz="2000" b="1" dirty="0">
                <a:latin typeface="Times New Roman" panose="02020603050405020304" pitchFamily="18" charset="0"/>
                <a:cs typeface="Times New Roman" panose="02020603050405020304" pitchFamily="18" charset="0"/>
              </a:rPr>
              <a:t>Competitions: </a:t>
            </a:r>
            <a:r>
              <a:rPr lang="en-US" sz="2000" dirty="0">
                <a:latin typeface="Times New Roman" panose="02020603050405020304" pitchFamily="18" charset="0"/>
                <a:cs typeface="Times New Roman" panose="02020603050405020304" pitchFamily="18" charset="0"/>
              </a:rPr>
              <a:t>Introducing multiplayer quizzes, team challenges, and national leaderboards.</a:t>
            </a:r>
          </a:p>
          <a:p>
            <a:pPr>
              <a:spcBef>
                <a:spcPts val="600"/>
              </a:spcBef>
              <a:spcAft>
                <a:spcPts val="600"/>
              </a:spcAft>
            </a:pPr>
            <a:r>
              <a:rPr lang="en-US" sz="2000" b="1" dirty="0" smtClean="0">
                <a:latin typeface="Times New Roman" panose="02020603050405020304" pitchFamily="18" charset="0"/>
                <a:cs typeface="Times New Roman" panose="02020603050405020304" pitchFamily="18" charset="0"/>
              </a:rPr>
              <a:t>Mobile </a:t>
            </a:r>
            <a:r>
              <a:rPr lang="en-US" sz="2000" b="1" dirty="0">
                <a:latin typeface="Times New Roman" panose="02020603050405020304" pitchFamily="18" charset="0"/>
                <a:cs typeface="Times New Roman" panose="02020603050405020304" pitchFamily="18" charset="0"/>
              </a:rPr>
              <a:t>App: </a:t>
            </a:r>
            <a:r>
              <a:rPr lang="en-US" sz="2000" dirty="0">
                <a:latin typeface="Times New Roman" panose="02020603050405020304" pitchFamily="18" charset="0"/>
                <a:cs typeface="Times New Roman" panose="02020603050405020304" pitchFamily="18" charset="0"/>
              </a:rPr>
              <a:t>Launching dedicated apps for Android and iOS for learning anywhere.</a:t>
            </a:r>
          </a:p>
          <a:p>
            <a:pPr>
              <a:spcBef>
                <a:spcPts val="600"/>
              </a:spcBef>
              <a:spcAft>
                <a:spcPts val="600"/>
              </a:spcAft>
            </a:pPr>
            <a:r>
              <a:rPr lang="en-US" sz="2000" b="1" dirty="0" smtClean="0">
                <a:latin typeface="Times New Roman" panose="02020603050405020304" pitchFamily="18" charset="0"/>
                <a:cs typeface="Times New Roman" panose="02020603050405020304" pitchFamily="18" charset="0"/>
              </a:rPr>
              <a:t>More </a:t>
            </a:r>
            <a:r>
              <a:rPr lang="en-US" sz="2000" b="1" dirty="0">
                <a:latin typeface="Times New Roman" panose="02020603050405020304" pitchFamily="18" charset="0"/>
                <a:cs typeface="Times New Roman" panose="02020603050405020304" pitchFamily="18" charset="0"/>
              </a:rPr>
              <a:t>Languages: </a:t>
            </a:r>
            <a:r>
              <a:rPr lang="en-US" sz="2000" dirty="0">
                <a:latin typeface="Times New Roman" panose="02020603050405020304" pitchFamily="18" charset="0"/>
                <a:cs typeface="Times New Roman" panose="02020603050405020304" pitchFamily="18" charset="0"/>
              </a:rPr>
              <a:t>Adding support for various regional languages to reach more users</a:t>
            </a:r>
            <a:r>
              <a:rPr lang="en-US" sz="2000" dirty="0" smtClean="0">
                <a:latin typeface="Times New Roman" panose="02020603050405020304" pitchFamily="18" charset="0"/>
                <a:cs typeface="Times New Roman" panose="02020603050405020304" pitchFamily="18" charset="0"/>
              </a:rPr>
              <a:t>.</a:t>
            </a:r>
          </a:p>
          <a:p>
            <a:pPr>
              <a:spcBef>
                <a:spcPts val="600"/>
              </a:spcBef>
              <a:spcAft>
                <a:spcPts val="600"/>
              </a:spcAft>
            </a:pPr>
            <a:r>
              <a:rPr lang="en-IN" sz="2000" b="1" dirty="0">
                <a:latin typeface="Times New Roman" panose="02020603050405020304" pitchFamily="18" charset="0"/>
                <a:cs typeface="Times New Roman" panose="02020603050405020304" pitchFamily="18" charset="0"/>
              </a:rPr>
              <a:t>Integration </a:t>
            </a:r>
            <a:r>
              <a:rPr lang="en-IN" sz="2000" b="1" dirty="0" smtClean="0">
                <a:latin typeface="Times New Roman" panose="02020603050405020304" pitchFamily="18" charset="0"/>
                <a:cs typeface="Times New Roman" panose="02020603050405020304" pitchFamily="18" charset="0"/>
              </a:rPr>
              <a:t>of: </a:t>
            </a:r>
            <a:r>
              <a:rPr lang="en-IN" sz="2000" dirty="0" err="1" smtClean="0">
                <a:latin typeface="Times New Roman" panose="02020603050405020304" pitchFamily="18" charset="0"/>
                <a:cs typeface="Times New Roman" panose="02020603050405020304" pitchFamily="18" charset="0"/>
              </a:rPr>
              <a:t>Bharatiya</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Nyaya </a:t>
            </a:r>
            <a:r>
              <a:rPr lang="en-IN" sz="2000" dirty="0" err="1">
                <a:latin typeface="Times New Roman" panose="02020603050405020304" pitchFamily="18" charset="0"/>
                <a:cs typeface="Times New Roman" panose="02020603050405020304" pitchFamily="18" charset="0"/>
              </a:rPr>
              <a:t>Sanhita</a:t>
            </a:r>
            <a:r>
              <a:rPr lang="en-IN" sz="2000" dirty="0">
                <a:latin typeface="Times New Roman" panose="02020603050405020304" pitchFamily="18" charset="0"/>
                <a:cs typeface="Times New Roman" panose="02020603050405020304" pitchFamily="18" charset="0"/>
              </a:rPr>
              <a:t> (BNS), </a:t>
            </a:r>
            <a:r>
              <a:rPr lang="en-IN" sz="2000" dirty="0" err="1">
                <a:latin typeface="Times New Roman" panose="02020603050405020304" pitchFamily="18" charset="0"/>
                <a:cs typeface="Times New Roman" panose="02020603050405020304" pitchFamily="18" charset="0"/>
              </a:rPr>
              <a:t>Bharatiya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Nagarik</a:t>
            </a:r>
            <a:r>
              <a:rPr lang="en-IN" sz="2000" dirty="0">
                <a:latin typeface="Times New Roman" panose="02020603050405020304" pitchFamily="18" charset="0"/>
                <a:cs typeface="Times New Roman" panose="02020603050405020304" pitchFamily="18" charset="0"/>
              </a:rPr>
              <a:t> Suraksha </a:t>
            </a:r>
            <a:r>
              <a:rPr lang="en-IN" sz="2000" dirty="0" err="1">
                <a:latin typeface="Times New Roman" panose="02020603050405020304" pitchFamily="18" charset="0"/>
                <a:cs typeface="Times New Roman" panose="02020603050405020304" pitchFamily="18" charset="0"/>
              </a:rPr>
              <a:t>Sanhita</a:t>
            </a:r>
            <a:r>
              <a:rPr lang="en-IN" sz="2000" dirty="0">
                <a:latin typeface="Times New Roman" panose="02020603050405020304" pitchFamily="18" charset="0"/>
                <a:cs typeface="Times New Roman" panose="02020603050405020304" pitchFamily="18" charset="0"/>
              </a:rPr>
              <a:t> (BNSS), and </a:t>
            </a:r>
            <a:r>
              <a:rPr lang="en-IN" sz="2000" dirty="0" err="1">
                <a:latin typeface="Times New Roman" panose="02020603050405020304" pitchFamily="18" charset="0"/>
                <a:cs typeface="Times New Roman" panose="02020603050405020304" pitchFamily="18" charset="0"/>
              </a:rPr>
              <a:t>Bharatiya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Sakshya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Adhiniyam</a:t>
            </a:r>
            <a:r>
              <a:rPr lang="en-IN" sz="2000" dirty="0">
                <a:latin typeface="Times New Roman" panose="02020603050405020304" pitchFamily="18" charset="0"/>
                <a:cs typeface="Times New Roman" panose="02020603050405020304" pitchFamily="18" charset="0"/>
              </a:rPr>
              <a:t> (BSA).</a:t>
            </a:r>
            <a:endParaRPr lang="en-US"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949556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FAB73BC-B049-4115-A692-8D63A059BFB8}" type="slidenum">
              <a:rPr lang="en-US" smtClean="0"/>
              <a:t>27</a:t>
            </a:fld>
            <a:endParaRPr lang="en-US" dirty="0"/>
          </a:p>
        </p:txBody>
      </p:sp>
      <p:sp>
        <p:nvSpPr>
          <p:cNvPr id="2" name="Title 1"/>
          <p:cNvSpPr>
            <a:spLocks noGrp="1"/>
          </p:cNvSpPr>
          <p:nvPr>
            <p:ph type="title" idx="4294967295"/>
          </p:nvPr>
        </p:nvSpPr>
        <p:spPr>
          <a:xfrm>
            <a:off x="571500" y="550863"/>
            <a:ext cx="2524125" cy="666750"/>
          </a:xfrm>
        </p:spPr>
        <p:txBody>
          <a:bodyPr>
            <a:normAutofit/>
          </a:bodyPr>
          <a:lstStyle/>
          <a:p>
            <a:r>
              <a:rPr lang="en-US" sz="3200" dirty="0" smtClean="0">
                <a:solidFill>
                  <a:schemeClr val="tx1"/>
                </a:solidFill>
                <a:latin typeface="Times New Roman" panose="02020603050405020304" pitchFamily="18" charset="0"/>
                <a:cs typeface="Times New Roman" panose="02020603050405020304" pitchFamily="18" charset="0"/>
              </a:rPr>
              <a:t>References </a:t>
            </a:r>
            <a:endParaRPr lang="en-IN" sz="3200"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9698990" y="38752"/>
            <a:ext cx="2493010" cy="1282065"/>
          </a:xfrm>
          <a:prstGeom prst="rect">
            <a:avLst/>
          </a:prstGeom>
        </p:spPr>
      </p:pic>
      <p:sp>
        <p:nvSpPr>
          <p:cNvPr id="6" name="Rectangle 5"/>
          <p:cNvSpPr/>
          <p:nvPr/>
        </p:nvSpPr>
        <p:spPr>
          <a:xfrm>
            <a:off x="3805990" y="6453970"/>
            <a:ext cx="4327357" cy="307777"/>
          </a:xfrm>
          <a:prstGeom prst="rect">
            <a:avLst/>
          </a:prstGeom>
        </p:spPr>
        <p:txBody>
          <a:bodyPr wrap="square">
            <a:spAutoFit/>
          </a:bodyPr>
          <a:lstStyle/>
          <a:p>
            <a:r>
              <a:rPr lang="en-US" sz="1400" dirty="0" smtClean="0">
                <a:latin typeface="Times New Roman" panose="02020603050405020304" pitchFamily="18" charset="0"/>
                <a:cs typeface="Times New Roman" panose="02020603050405020304" pitchFamily="18" charset="0"/>
              </a:rPr>
              <a:t>Sinhgad College Of Engineering, Pune-41 BE(Computer)</a:t>
            </a:r>
            <a:endParaRPr lang="en-IN" sz="1400" dirty="0"/>
          </a:p>
        </p:txBody>
      </p:sp>
      <p:sp>
        <p:nvSpPr>
          <p:cNvPr id="8" name="Rectangle 7"/>
          <p:cNvSpPr/>
          <p:nvPr/>
        </p:nvSpPr>
        <p:spPr>
          <a:xfrm>
            <a:off x="2719826" y="0"/>
            <a:ext cx="6875479" cy="307777"/>
          </a:xfrm>
          <a:prstGeom prst="rect">
            <a:avLst/>
          </a:prstGeom>
        </p:spPr>
        <p:txBody>
          <a:bodyPr wrap="square">
            <a:spAutoFit/>
          </a:bodyPr>
          <a:lstStyle/>
          <a:p>
            <a:r>
              <a:rPr lang="en-IN" sz="1400" dirty="0" smtClean="0">
                <a:latin typeface="Times New Roman" panose="02020603050405020304" pitchFamily="18" charset="0"/>
                <a:cs typeface="Times New Roman" panose="02020603050405020304" pitchFamily="18" charset="0"/>
              </a:rPr>
              <a:t>Vidhan</a:t>
            </a:r>
            <a:r>
              <a:rPr lang="en-IN" sz="1400" dirty="0">
                <a:latin typeface="Times New Roman" panose="02020603050405020304" pitchFamily="18" charset="0"/>
                <a:cs typeface="Times New Roman" panose="02020603050405020304" pitchFamily="18" charset="0"/>
              </a:rPr>
              <a:t>: A Gamified Approach to Learning the Indian Constitution with AI Assistance</a:t>
            </a:r>
            <a:r>
              <a:rPr lang="en-IN" sz="1400" dirty="0" smtClean="0">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
        <p:nvSpPr>
          <p:cNvPr id="9" name="Rectangle 8"/>
          <p:cNvSpPr/>
          <p:nvPr/>
        </p:nvSpPr>
        <p:spPr>
          <a:xfrm>
            <a:off x="558561" y="1460699"/>
            <a:ext cx="11198010" cy="3416320"/>
          </a:xfrm>
          <a:prstGeom prst="rect">
            <a:avLst/>
          </a:prstGeom>
        </p:spPr>
        <p:txBody>
          <a:bodyPr wrap="square">
            <a:spAutoFit/>
          </a:bodyPr>
          <a:lstStyle/>
          <a:p>
            <a:r>
              <a:rPr lang="en-IN" dirty="0" smtClean="0">
                <a:latin typeface="Times New Roman" panose="02020603050405020304" pitchFamily="18" charset="0"/>
                <a:cs typeface="Times New Roman" panose="02020603050405020304" pitchFamily="18" charset="0"/>
              </a:rPr>
              <a:t>[1].  S</a:t>
            </a:r>
            <a:r>
              <a:rPr lang="en-IN" dirty="0">
                <a:latin typeface="Times New Roman" panose="02020603050405020304" pitchFamily="18" charset="0"/>
                <a:cs typeface="Times New Roman" panose="02020603050405020304" pitchFamily="18" charset="0"/>
              </a:rPr>
              <a:t>. Naveen, M. </a:t>
            </a:r>
            <a:r>
              <a:rPr lang="en-IN" dirty="0" err="1">
                <a:latin typeface="Times New Roman" panose="02020603050405020304" pitchFamily="18" charset="0"/>
                <a:cs typeface="Times New Roman" panose="02020603050405020304" pitchFamily="18" charset="0"/>
              </a:rPr>
              <a:t>Salmaan</a:t>
            </a:r>
            <a:r>
              <a:rPr lang="en-IN" dirty="0">
                <a:latin typeface="Times New Roman" panose="02020603050405020304" pitchFamily="18" charset="0"/>
                <a:cs typeface="Times New Roman" panose="02020603050405020304" pitchFamily="18" charset="0"/>
              </a:rPr>
              <a:t>, and E. </a:t>
            </a:r>
            <a:r>
              <a:rPr lang="en-IN" dirty="0" err="1" smtClean="0">
                <a:latin typeface="Times New Roman" panose="02020603050405020304" pitchFamily="18" charset="0"/>
                <a:cs typeface="Times New Roman" panose="02020603050405020304" pitchFamily="18" charset="0"/>
              </a:rPr>
              <a:t>Sivamuthu</a:t>
            </a:r>
            <a:r>
              <a:rPr lang="en-IN" dirty="0" smtClean="0">
                <a:latin typeface="Times New Roman" panose="02020603050405020304" pitchFamily="18" charset="0"/>
                <a:cs typeface="Times New Roman" panose="02020603050405020304" pitchFamily="18" charset="0"/>
              </a:rPr>
              <a:t>. "Constitution </a:t>
            </a:r>
            <a:r>
              <a:rPr lang="en-IN" dirty="0">
                <a:latin typeface="Times New Roman" panose="02020603050405020304" pitchFamily="18" charset="0"/>
                <a:cs typeface="Times New Roman" panose="02020603050405020304" pitchFamily="18" charset="0"/>
              </a:rPr>
              <a:t>Connect: A Digital Platform for Promoting Constitutional Literacy Using MERN </a:t>
            </a:r>
            <a:r>
              <a:rPr lang="en-IN" dirty="0" smtClean="0">
                <a:latin typeface="Times New Roman" panose="02020603050405020304" pitchFamily="18" charset="0"/>
                <a:cs typeface="Times New Roman" panose="02020603050405020304" pitchFamily="18" charset="0"/>
              </a:rPr>
              <a:t>Stack" </a:t>
            </a:r>
            <a:r>
              <a:rPr lang="en-IN" dirty="0">
                <a:latin typeface="Times New Roman" panose="02020603050405020304" pitchFamily="18" charset="0"/>
                <a:cs typeface="Times New Roman" panose="02020603050405020304" pitchFamily="18" charset="0"/>
              </a:rPr>
              <a:t>International Journal of Progressive Research in Engineering Management and Science (IJPREMS), vol. 04, no. 12, pp. 948-952, </a:t>
            </a:r>
            <a:r>
              <a:rPr lang="en-IN" dirty="0" smtClean="0">
                <a:latin typeface="Times New Roman" panose="02020603050405020304" pitchFamily="18" charset="0"/>
                <a:cs typeface="Times New Roman" panose="02020603050405020304" pitchFamily="18" charset="0"/>
              </a:rPr>
              <a:t>[Year - 2024]</a:t>
            </a:r>
          </a:p>
          <a:p>
            <a:endParaRPr lang="en-IN" dirty="0" smtClean="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[2]. W. S. Fernando, M. </a:t>
            </a:r>
            <a:r>
              <a:rPr lang="en-US" dirty="0" err="1">
                <a:latin typeface="Times New Roman" panose="02020603050405020304" pitchFamily="18" charset="0"/>
                <a:cs typeface="Times New Roman" panose="02020603050405020304" pitchFamily="18" charset="0"/>
              </a:rPr>
              <a:t>Handapangoda</a:t>
            </a:r>
            <a:r>
              <a:rPr lang="en-US" dirty="0">
                <a:latin typeface="Times New Roman" panose="02020603050405020304" pitchFamily="18" charset="0"/>
                <a:cs typeface="Times New Roman" panose="02020603050405020304" pitchFamily="18" charset="0"/>
              </a:rPr>
              <a:t>, M. </a:t>
            </a:r>
            <a:r>
              <a:rPr lang="en-US" dirty="0" err="1">
                <a:latin typeface="Times New Roman" panose="02020603050405020304" pitchFamily="18" charset="0"/>
                <a:cs typeface="Times New Roman" panose="02020603050405020304" pitchFamily="18" charset="0"/>
              </a:rPr>
              <a:t>Gamage</a:t>
            </a:r>
            <a:r>
              <a:rPr lang="en-US" dirty="0">
                <a:latin typeface="Times New Roman" panose="02020603050405020304" pitchFamily="18" charset="0"/>
                <a:cs typeface="Times New Roman" panose="02020603050405020304" pitchFamily="18" charset="0"/>
              </a:rPr>
              <a:t>, N. </a:t>
            </a:r>
            <a:r>
              <a:rPr lang="en-US" dirty="0" err="1">
                <a:latin typeface="Times New Roman" panose="02020603050405020304" pitchFamily="18" charset="0"/>
                <a:cs typeface="Times New Roman" panose="02020603050405020304" pitchFamily="18" charset="0"/>
              </a:rPr>
              <a:t>Samindi</a:t>
            </a:r>
            <a:r>
              <a:rPr lang="en-US" dirty="0">
                <a:latin typeface="Times New Roman" panose="02020603050405020304" pitchFamily="18" charset="0"/>
                <a:cs typeface="Times New Roman" panose="02020603050405020304" pitchFamily="18" charset="0"/>
              </a:rPr>
              <a:t>, and D. </a:t>
            </a:r>
            <a:r>
              <a:rPr lang="en-US" dirty="0" err="1">
                <a:latin typeface="Times New Roman" panose="02020603050405020304" pitchFamily="18" charset="0"/>
                <a:cs typeface="Times New Roman" panose="02020603050405020304" pitchFamily="18" charset="0"/>
              </a:rPr>
              <a:t>Alwis</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LawKey</a:t>
            </a:r>
            <a:r>
              <a:rPr lang="en-US" dirty="0">
                <a:latin typeface="Times New Roman" panose="02020603050405020304" pitchFamily="18" charset="0"/>
                <a:cs typeface="Times New Roman" panose="02020603050405020304" pitchFamily="18" charset="0"/>
              </a:rPr>
              <a:t> - Law Constitution </a:t>
            </a:r>
            <a:r>
              <a:rPr lang="en-US" dirty="0" err="1" smtClean="0">
                <a:latin typeface="Times New Roman" panose="02020603050405020304" pitchFamily="18" charset="0"/>
                <a:cs typeface="Times New Roman" panose="02020603050405020304" pitchFamily="18" charset="0"/>
              </a:rPr>
              <a:t>Chatbot</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 2024 8th SLAAI International Conference on Artificial Intelligence (SLAAI-ICAI), 2024,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10.1109/SLAAI-ICAI63667.2024.10844946. [Year - 2024]</a:t>
            </a:r>
          </a:p>
          <a:p>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P. </a:t>
            </a:r>
            <a:r>
              <a:rPr lang="en-US" dirty="0" err="1">
                <a:latin typeface="Times New Roman" panose="02020603050405020304" pitchFamily="18" charset="0"/>
                <a:cs typeface="Times New Roman" panose="02020603050405020304" pitchFamily="18" charset="0"/>
              </a:rPr>
              <a:t>Halachev</a:t>
            </a:r>
            <a:r>
              <a:rPr lang="en-US" dirty="0">
                <a:latin typeface="Times New Roman" panose="02020603050405020304" pitchFamily="18" charset="0"/>
                <a:cs typeface="Times New Roman" panose="02020603050405020304" pitchFamily="18" charset="0"/>
              </a:rPr>
              <a:t>, PhD in Informatics and Computer Science, Assistant Professor, Department of Informatics, University of Chemical Technology and Metallurgy, Sofia, Bulgaria "Gamification as an e-learning tool: A Literature </a:t>
            </a:r>
            <a:r>
              <a:rPr lang="en-US" dirty="0" smtClean="0">
                <a:latin typeface="Times New Roman" panose="02020603050405020304" pitchFamily="18" charset="0"/>
                <a:cs typeface="Times New Roman" panose="02020603050405020304" pitchFamily="18" charset="0"/>
              </a:rPr>
              <a:t>Review" </a:t>
            </a:r>
            <a:r>
              <a:rPr lang="en-US" dirty="0">
                <a:latin typeface="Times New Roman" panose="02020603050405020304" pitchFamily="18" charset="0"/>
                <a:cs typeface="Times New Roman" panose="02020603050405020304" pitchFamily="18" charset="0"/>
              </a:rPr>
              <a:t>E-Learning Innovations Journal, vol. 2, no. 2, pp. 4-20, 2024,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10.57125/ELIJ.2024.09.25.01</a:t>
            </a:r>
            <a:r>
              <a:rPr lang="en-US" dirty="0" smtClean="0">
                <a:latin typeface="Times New Roman" panose="02020603050405020304" pitchFamily="18" charset="0"/>
                <a:cs typeface="Times New Roman" panose="02020603050405020304" pitchFamily="18" charset="0"/>
              </a:rPr>
              <a:t>. [Year - 2024]</a:t>
            </a:r>
          </a:p>
          <a:p>
            <a:endParaRPr lang="en-US" dirty="0">
              <a:latin typeface="Times New Roman" panose="02020603050405020304" pitchFamily="18" charset="0"/>
              <a:cs typeface="Times New Roman" panose="02020603050405020304" pitchFamily="18" charset="0"/>
            </a:endParaRPr>
          </a:p>
        </p:txBody>
      </p:sp>
      <p:cxnSp>
        <p:nvCxnSpPr>
          <p:cNvPr id="10" name="Straight Connector 9"/>
          <p:cNvCxnSpPr/>
          <p:nvPr/>
        </p:nvCxnSpPr>
        <p:spPr>
          <a:xfrm>
            <a:off x="522514" y="1217613"/>
            <a:ext cx="91764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0494605"/>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1547</TotalTime>
  <Words>3004</Words>
  <Application>Microsoft Office PowerPoint</Application>
  <PresentationFormat>Widescreen</PresentationFormat>
  <Paragraphs>312</Paragraphs>
  <Slides>27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Times New Roman</vt:lpstr>
      <vt:lpstr>Wingdings</vt:lpstr>
      <vt:lpstr>Retrospect</vt:lpstr>
      <vt:lpstr>PowerPoint Presentation</vt:lpstr>
      <vt:lpstr>PowerPoint Presentation</vt:lpstr>
      <vt:lpstr>PowerPoint Presentation</vt:lpstr>
      <vt:lpstr>Motivation </vt:lpstr>
      <vt:lpstr>PowerPoint Presentation</vt:lpstr>
      <vt:lpstr>Aim and Objectives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108</cp:revision>
  <dcterms:created xsi:type="dcterms:W3CDTF">2024-09-22T20:04:35Z</dcterms:created>
  <dcterms:modified xsi:type="dcterms:W3CDTF">2025-11-13T14:10:23Z</dcterms:modified>
</cp:coreProperties>
</file>